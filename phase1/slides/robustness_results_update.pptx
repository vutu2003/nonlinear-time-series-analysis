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Times New Roman"/>
        <a:ea typeface="Times New Roman"/>
        <a:cs typeface="Times New Roman"/>
      </a:defRPr>
    </a:lvl1pPr>
    <a:lvl2pPr marL="457200" algn="l" defTabSz="457200" rtl="0" eaLnBrk="1" latinLnBrk="0" hangingPunct="1">
      <a:defRPr sz="1800" kern="1200">
        <a:solidFill>
          <a:schemeClr val="tx1"/>
        </a:solidFill>
        <a:latin typeface="Times New Roman"/>
        <a:ea typeface="Times New Roman"/>
        <a:cs typeface="Times New Roman"/>
      </a:defRPr>
    </a:lvl2pPr>
    <a:lvl3pPr marL="914400" algn="l" defTabSz="457200" rtl="0" eaLnBrk="1" latinLnBrk="0" hangingPunct="1">
      <a:defRPr sz="1800" kern="1200">
        <a:solidFill>
          <a:schemeClr val="tx1"/>
        </a:solidFill>
        <a:latin typeface="Times New Roman"/>
        <a:ea typeface="Times New Roman"/>
        <a:cs typeface="Times New Roman"/>
      </a:defRPr>
    </a:lvl3pPr>
    <a:lvl4pPr marL="1371600" algn="l" defTabSz="457200" rtl="0" eaLnBrk="1" latinLnBrk="0" hangingPunct="1">
      <a:defRPr sz="1800" kern="1200">
        <a:solidFill>
          <a:schemeClr val="tx1"/>
        </a:solidFill>
        <a:latin typeface="Times New Roman"/>
        <a:ea typeface="Times New Roman"/>
        <a:cs typeface="Times New Roman"/>
      </a:defRPr>
    </a:lvl4pPr>
    <a:lvl5pPr marL="1828800" algn="l" defTabSz="457200" rtl="0" eaLnBrk="1" latinLnBrk="0" hangingPunct="1">
      <a:defRPr sz="1800" kern="1200">
        <a:solidFill>
          <a:schemeClr val="tx1"/>
        </a:solidFill>
        <a:latin typeface="Times New Roman"/>
        <a:ea typeface="Times New Roman"/>
        <a:cs typeface="Times New Roman"/>
      </a:defRPr>
    </a:lvl5pPr>
    <a:lvl6pPr marL="2286000" algn="l" defTabSz="457200" rtl="0" eaLnBrk="1" latinLnBrk="0" hangingPunct="1">
      <a:defRPr sz="1800" kern="1200">
        <a:solidFill>
          <a:schemeClr val="tx1"/>
        </a:solidFill>
        <a:latin typeface="Times New Roman"/>
        <a:ea typeface="Times New Roman"/>
        <a:cs typeface="Times New Roman"/>
      </a:defRPr>
    </a:lvl6pPr>
    <a:lvl7pPr marL="2743200" algn="l" defTabSz="457200" rtl="0" eaLnBrk="1" latinLnBrk="0" hangingPunct="1">
      <a:defRPr sz="1800" kern="1200">
        <a:solidFill>
          <a:schemeClr val="tx1"/>
        </a:solidFill>
        <a:latin typeface="Times New Roman"/>
        <a:ea typeface="Times New Roman"/>
        <a:cs typeface="Times New Roman"/>
      </a:defRPr>
    </a:lvl7pPr>
    <a:lvl8pPr marL="3200400" algn="l" defTabSz="457200" rtl="0" eaLnBrk="1" latinLnBrk="0" hangingPunct="1">
      <a:defRPr sz="1800" kern="1200">
        <a:solidFill>
          <a:schemeClr val="tx1"/>
        </a:solidFill>
        <a:latin typeface="Times New Roman"/>
        <a:ea typeface="Times New Roman"/>
        <a:cs typeface="Times New Roman"/>
      </a:defRPr>
    </a:lvl8pPr>
    <a:lvl9pPr marL="3657600" algn="l" defTabSz="457200" rtl="0" eaLnBrk="1" latinLnBrk="0" hangingPunct="1">
      <a:defRPr sz="1800" kern="1200">
        <a:solidFill>
          <a:schemeClr val="tx1"/>
        </a:solidFill>
        <a:latin typeface="Times New Roman"/>
        <a:ea typeface="Times New Roman"/>
        <a:cs typeface="Times New Rom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Times New Roman"/>
        <a:ea typeface="Times New Roman"/>
        <a:cs typeface="Times New Roman"/>
      </a:defRPr>
    </a:lvl1pPr>
    <a:lvl2pPr marL="457200" algn="l" defTabSz="457200" rtl="0" eaLnBrk="1" latinLnBrk="0" hangingPunct="1">
      <a:defRPr sz="1200" kern="1200">
        <a:solidFill>
          <a:schemeClr val="tx1"/>
        </a:solidFill>
        <a:latin typeface="Times New Roman"/>
        <a:ea typeface="Times New Roman"/>
        <a:cs typeface="Times New Roman"/>
      </a:defRPr>
    </a:lvl2pPr>
    <a:lvl3pPr marL="914400" algn="l" defTabSz="457200" rtl="0" eaLnBrk="1" latinLnBrk="0" hangingPunct="1">
      <a:defRPr sz="1200" kern="1200">
        <a:solidFill>
          <a:schemeClr val="tx1"/>
        </a:solidFill>
        <a:latin typeface="Times New Roman"/>
        <a:ea typeface="Times New Roman"/>
        <a:cs typeface="Times New Roman"/>
      </a:defRPr>
    </a:lvl3pPr>
    <a:lvl4pPr marL="1371600" algn="l" defTabSz="457200" rtl="0" eaLnBrk="1" latinLnBrk="0" hangingPunct="1">
      <a:defRPr sz="1200" kern="1200">
        <a:solidFill>
          <a:schemeClr val="tx1"/>
        </a:solidFill>
        <a:latin typeface="Times New Roman"/>
        <a:ea typeface="Times New Roman"/>
        <a:cs typeface="Times New Roman"/>
      </a:defRPr>
    </a:lvl4pPr>
    <a:lvl5pPr marL="1828800" algn="l" defTabSz="457200" rtl="0" eaLnBrk="1" latinLnBrk="0" hangingPunct="1">
      <a:defRPr sz="1200" kern="1200">
        <a:solidFill>
          <a:schemeClr val="tx1"/>
        </a:solidFill>
        <a:latin typeface="Times New Roman"/>
        <a:ea typeface="Times New Roman"/>
        <a:cs typeface="Times New Roman"/>
      </a:defRPr>
    </a:lvl5pPr>
    <a:lvl6pPr marL="2286000" algn="l" defTabSz="457200" rtl="0" eaLnBrk="1" latinLnBrk="0" hangingPunct="1">
      <a:defRPr sz="1200" kern="1200">
        <a:solidFill>
          <a:schemeClr val="tx1"/>
        </a:solidFill>
        <a:latin typeface="Times New Roman"/>
        <a:ea typeface="Times New Roman"/>
        <a:cs typeface="Times New Roman"/>
      </a:defRPr>
    </a:lvl6pPr>
    <a:lvl7pPr marL="2743200" algn="l" defTabSz="457200" rtl="0" eaLnBrk="1" latinLnBrk="0" hangingPunct="1">
      <a:defRPr sz="1200" kern="1200">
        <a:solidFill>
          <a:schemeClr val="tx1"/>
        </a:solidFill>
        <a:latin typeface="Times New Roman"/>
        <a:ea typeface="Times New Roman"/>
        <a:cs typeface="Times New Roman"/>
      </a:defRPr>
    </a:lvl7pPr>
    <a:lvl8pPr marL="3200400" algn="l" defTabSz="457200" rtl="0" eaLnBrk="1" latinLnBrk="0" hangingPunct="1">
      <a:defRPr sz="1200" kern="1200">
        <a:solidFill>
          <a:schemeClr val="tx1"/>
        </a:solidFill>
        <a:latin typeface="Times New Roman"/>
        <a:ea typeface="Times New Roman"/>
        <a:cs typeface="Times New Roman"/>
      </a:defRPr>
    </a:lvl8pPr>
    <a:lvl9pPr marL="3657600" algn="l" defTabSz="457200" rtl="0" eaLnBrk="1" latinLnBrk="0" hangingPunct="1">
      <a:defRPr sz="1200" kern="1200">
        <a:solidFill>
          <a:schemeClr val="tx1"/>
        </a:solidFill>
        <a:latin typeface="Times New Roman"/>
        <a:ea typeface="Times New Roman"/>
        <a:cs typeface="Times New Roman"/>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Các kết quả chính đã được trình bày ở báo cáo trước. Lần này tập trung vào độ nhạy với nhãn, tái dựng không gian pha, thiết lập estimator và việc chưa biết liên kết phiên–người. Các số liệu lấy từ manuscript và Supplementary hiện có; không chạy lại thực nghiệm.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RQ1 kiểm tra sự khác biệt so với mô hình giả chu kỳ có nhiễu đã chọn. RQ2 so sánh cặp các trung vị phiên × trạng thái. Hai câu hỏi có phép kiểm định và đơn vị phân tích khác nhau. Nguồn: Introduction, Methods và Results của manuscript.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kết quả RQ1 và Supplementary Table S3. Tỷ lệ hiển thị là trung vị tỷ lệ bác bỏ theo phiên, không phải tỷ lệ gộp mọi cửa sổ. DET dùng tái dựng danh định τ = 0.16 s, m = 8. LLE dùng bộ PPS riêng và cùng tiêu chuẩn chất lượng estimator. Các kết quả chỉ chống lại noisy pseudoperiodic null đã thử; chưa loại trừ mọi mô hình ngẫu nhiên khác.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Table I. Mốc 60 s, Δ là trung vị các chênh lệch Drowsy-minus-Awake giữa tóm tắt median mỗi phiên × trạng thái. Mean CC: Δ=-0.0339; 95%CI[-0.0595,-0.0043]; r_rb=-0.581; qBH=0.0376. Mean NRMSE: Δ=+0.0294; CI[0.0047,0.0530]; r_rb=+0.667; qBH=0.0255. DET tại τ=0.16 s,m=8: Δ=-0.0186; CI[-0.0364,-0.0069]; r_rb=-0.581; qBH=0.0376. LLE: Δ=-0.0376 s^-1; CI[-0.0537,-0.0230]; r_rb=-0.810; qBH=0.0050. BH7 gồm cả Lmean/LAM/TT, không chỉ bốn kết quả chính. DET phản ánh tổ chức lặp lại theo đường chéo dưới cấu hình danh định; LLE là độ phân kỳ cục bộ ước lượng. Các kết quả mô tả liên hệ với trạng thái, chưa xác định quan hệ nhân quả.</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Công thức khái quát: p = P(độ cực đoan của kết quả ≥ mức quan sát | H0). Đây là xác suất có điều kiện theo giả thuyết và các giả định của kiểm định, không phải xác suất H0 đúng. Đường cong hai đuôi chỉ minh hoạ ý nghĩa; không biểu diễn phân bố thực hay tạo p-value của nghiên cứu. Phân tích Awake–Drowsy dùng Wilcoxon signed-rank hai phía trên các chênh lệch phiên ghi. Nguồn: Methods, phần suy luận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Table I và Methods. BH-FDR được áp dụng cho đủ 7 chỉ số của cấu hình chính, gồm cả Lmean, LAM và TT. Bốn chỉ số có qBH &lt; 0.05. qBH ở đây là p-value đã hiệu chỉnh bằng BH. FDR là kỳ vọng của tỷ lệ phát hiện sai trong số giả thuyết bị bác bỏ, dưới các điều kiện hợp lệ của phương pháp; không phải xác suất sai riêng cho từng kết quả. Mốc 60 s, Δ là trung vị các chênh lệch Drowsy-minus-Awake giữa tóm tắt median mỗi phiên × trạng thái. Mean CC: Δ=-0.0339; 95%CI[-0.0595,-0.0043]; r_rb=-0.581; qBH=0.0376. Mean NRMSE: Δ=+0.0294; CI[0.0047,0.0530]; r_rb=+0.667; qBH=0.0255. DET tại τ=0.16 s,m=8: Δ=-0.0186; CI[-0.0364,-0.0069]; r_rb=-0.581; qBH=0.0376. LLE: Δ=-0.0376 s^-1; CI[-0.0537,-0.0230]; r_rb=-0.810; qBH=0.0050. BH7 gồm cả Lmean/LAM/TT, không chỉ bốn kết quả chính.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Fig. 9 và Supplementary Table S4A, phần A. Biểu đồ vẽ lại số liệu đã báo cáo, không tính lại thống kê. DET dùng τ = 0.16 s, m = 8. CI của DET chứa 0 ở 30 s và 180 s; p chưa hiệu chỉnh ở 180 s là 0.05316925. Giữ hướng không đồng nghĩa mọi thời lượng đều đạt ngưỡng thống kê. Cửa sổ 60 s là lựa chọn thực tế trong bộ dữ liệu này.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Table II và Supplementary, phần S6.A và Table S4A.B. P0 giữ nhãn gốc; T30/T60 bỏ vùng ±30/±60 s quanh cả hai chiều chuyển trạng thái; S3/S5 giữ các đoạn cùng trạng thái dài ít nhất 180/300 s. S5 có 19 phiên so sánh cặp, các quy tắc còn lại có 20. T60 Mean CC có qBH = 0.0400; T30 LLE có qBH = 0.0215 dù CI trung vị chứa 0. Bootstrap CI của trung vị và Wilcoxon signed-rank phản ánh những khía cạnh khác nhau. BH áp dụng cho 4 chỉ số trong mỗi quy tắc thay thế; P0 dùng nhóm 7 chỉ số.</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Table III và Supplementary Table S4B.C. Thay đổi từng tham số riêng, không xét mọi tổ hợp. DET ở τ = 0.12 s: CI [−0.0078, +0.0076], qBH = 0.784126; τ = 0.20 s: CI [−0.0099, +0.0148], qBH = 0.985435. Cấu hình chính τ = 0.16 s, m = 8 có qBH = 0.0376 trong nhóm 7 chỉ số. Với m = 7/9, DET giữ dấu âm nhưng qBH trong nhóm 4 chỉ số là 0.053169/0.058258. Kết luận chỉ trong các giá trị tham số đã thử.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Supplementary Table S4B.D và phần S6.C. LLE có Δ âm, CI loại 0 và p chưa hiệu chỉnh &lt; 0.05 trong mọi thiết lập đã thử. Số cửa sổ đạt chất lượng thay đổi theo estimator. DET giữ tái dựng danh định τ = 0.16 s, m = 8. Ở RR = 0.01, Δ = −0.015214, CI [−0.033764, +0.002064], p chưa hiệu chỉnh = 0.082550. Không coi các p này như kết quả đã hiệu chỉnh cho toàn bộ nhóm thiết lập.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giới hạn nghiên cứu và Supplementary S7. Cặp phiên 1+8 và 2+5 chỉ là ví dụ giả định. Chưa biết liên kết thực tế, và thông tin 20 phiên từ 10 người không chứng minh mỗi người có đúng hai phiên. Nếu phiên cùng người tương quan, số quan sát độc lập hiệu dụng có thể dưới 20. Phân tích chính vẫn suy luận ở mức phiên ghi.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Supplementary S7. Mỗi cách ghép chia 20 phiên thành 10 cặp không trùng. Với từng chỉ số, bắt đầu từ chênh lệch Drowsy−Awake của mỗi phiên; lấy trung bình hai chênh lệch trong cụm, rồi kiểm định Wilcoxon trên 10 cụm và hiệu chỉnh BH cho 7 chỉ số trong từng cách ghép. Không lấy trung bình tín hiệu thô hay gộp mọi cửa sổ. 100,000 lần lấy mẫu tạo 99,990 cách ghép khác nhau. Thiết kế xét cụm hai phiên giả định; không phục hồi danh tính hay bao quát mọi cấu trúc cụm có thể có.</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Results và Supplementary Table S5. Tỷ lệ 100% là dấu của trung vị hiệu ứng qua các cách ghép đã lấy mẫu, không phải mọi phiên đều thay đổi cùng hướng. Tần suất qBH &lt; 0.05 lần lượt là 19.36%, 27.82%, 22.59% và 79.69%. LLE duy trì ngưỡng thống kê nhiều nhất trong thiết kế này. Các tần suất không phải xác suất kết quả thật có ý nghĩa. DET giữ cấu hình tái dựng danh định.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Discussion và Supplementary S6–S7. Cần phân biệt hướng, độ lớn hiệu ứng và mức hỗ trợ thống kê. CC, NRMSE và LLE giữ hướng trong các thiết lập đã thử; DET đổi dấu khi thay embedding delay. Các phân tích độ nhạy sử dụng cùng dữ liệu nên chưa phải nghiên cứu lặp lại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Discussion IV.A. Simplex Projection đánh giá mức khớp giữa dự báo và quan sát trên 18 khoảng thời gian từ 0.04 đến 4.00 s. Rosenstein LLE ước lượng độ phân kỳ cục bộ trong khoảng fit 0.80–1.30 s. Phân kỳ cục bộ ước lượng chậm hơn không suy ra dự báo hữu hạn tốt hơn; hai phương pháp có đại lượng đích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i="0">
                <a:solidFill>
                  <a:srgbClr val="171717"/>
                </a:solidFill>
                <a:latin typeface="Times New Roman"/>
                <a:ea typeface="Times New Roman"/>
                <a:cs typeface="Times New Roman"/>
              </a:rPr>
              <a:t>Nguồn: manuscript Discussion và Conclusion. Awake–Drowsy gắn với thay đổi ở các thuộc tính động lực học bổ sung cho nhau. DET giảm dưới cấu hình tái dựng danh định; LLE phản ánh độ phân kỳ cục bộ ước lượng. RQ1 chỉ chống lại noisy pseudoperiodic null đã thử; RQ2 mô tả liên hệ ở mức phiên ghi. Phạm vi diễn giải được giới hạn theo dữ liệu và thiết kế phân tích.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Times New Roman"/>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Times New Roman"/>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Times New Roman"/>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Times New Roman"/>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Times New Roman"/>
          <a:cs typeface="Times New Roman"/>
        </a:defRPr>
      </a:lvl1pPr>
      <a:lvl2pPr marL="457200" algn="l" defTabSz="457200" rtl="0" eaLnBrk="1" latinLnBrk="0" hangingPunct="1">
        <a:defRPr sz="1800" kern="1200">
          <a:solidFill>
            <a:schemeClr val="tx1"/>
          </a:solidFill>
          <a:latin typeface="Times New Roman"/>
          <a:ea typeface="Times New Roman"/>
          <a:cs typeface="Times New Roman"/>
        </a:defRPr>
      </a:lvl2pPr>
      <a:lvl3pPr marL="914400" algn="l" defTabSz="457200" rtl="0" eaLnBrk="1" latinLnBrk="0" hangingPunct="1">
        <a:defRPr sz="1800" kern="1200">
          <a:solidFill>
            <a:schemeClr val="tx1"/>
          </a:solidFill>
          <a:latin typeface="Times New Roman"/>
          <a:ea typeface="Times New Roman"/>
          <a:cs typeface="Times New Roman"/>
        </a:defRPr>
      </a:lvl3pPr>
      <a:lvl4pPr marL="1371600" algn="l" defTabSz="457200" rtl="0" eaLnBrk="1" latinLnBrk="0" hangingPunct="1">
        <a:defRPr sz="1800" kern="1200">
          <a:solidFill>
            <a:schemeClr val="tx1"/>
          </a:solidFill>
          <a:latin typeface="Times New Roman"/>
          <a:ea typeface="Times New Roman"/>
          <a:cs typeface="Times New Roman"/>
        </a:defRPr>
      </a:lvl4pPr>
      <a:lvl5pPr marL="1828800" algn="l" defTabSz="457200" rtl="0" eaLnBrk="1" latinLnBrk="0" hangingPunct="1">
        <a:defRPr sz="1800" kern="1200">
          <a:solidFill>
            <a:schemeClr val="tx1"/>
          </a:solidFill>
          <a:latin typeface="Times New Roman"/>
          <a:ea typeface="Times New Roman"/>
          <a:cs typeface="Times New Roman"/>
        </a:defRPr>
      </a:lvl5pPr>
      <a:lvl6pPr marL="2286000" algn="l" defTabSz="457200" rtl="0" eaLnBrk="1" latinLnBrk="0" hangingPunct="1">
        <a:defRPr sz="1800" kern="1200">
          <a:solidFill>
            <a:schemeClr val="tx1"/>
          </a:solidFill>
          <a:latin typeface="Times New Roman"/>
          <a:ea typeface="Times New Roman"/>
          <a:cs typeface="Times New Roman"/>
        </a:defRPr>
      </a:lvl6pPr>
      <a:lvl7pPr marL="2743200" algn="l" defTabSz="457200" rtl="0" eaLnBrk="1" latinLnBrk="0" hangingPunct="1">
        <a:defRPr sz="1800" kern="1200">
          <a:solidFill>
            <a:schemeClr val="tx1"/>
          </a:solidFill>
          <a:latin typeface="Times New Roman"/>
          <a:ea typeface="Times New Roman"/>
          <a:cs typeface="Times New Roman"/>
        </a:defRPr>
      </a:lvl7pPr>
      <a:lvl8pPr marL="3200400" algn="l" defTabSz="457200" rtl="0" eaLnBrk="1" latinLnBrk="0" hangingPunct="1">
        <a:defRPr sz="1800" kern="1200">
          <a:solidFill>
            <a:schemeClr val="tx1"/>
          </a:solidFill>
          <a:latin typeface="Times New Roman"/>
          <a:ea typeface="Times New Roman"/>
          <a:cs typeface="Times New Roman"/>
        </a:defRPr>
      </a:lvl8pPr>
      <a:lvl9pPr marL="3657600" algn="l" defTabSz="457200" rtl="0" eaLnBrk="1" latinLnBrk="0" hangingPunct="1">
        <a:defRPr sz="1800" kern="1200">
          <a:solidFill>
            <a:schemeClr val="tx1"/>
          </a:solidFill>
          <a:latin typeface="Times New Roman"/>
          <a:ea typeface="Times New Roman"/>
          <a:cs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800" b="0" i="1">
                <a:solidFill>
                  <a:srgbClr val="777777"/>
                </a:solidFill>
                <a:latin typeface="Times New Roman"/>
                <a:ea typeface="Times New Roman"/>
                <a:cs typeface="Times New Roman"/>
              </a:rPr>
              <a:t>Cập nhật kết quả nghiên cứu</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Các phân tích bổ sung kiểm tra độ bền của những kết quả đã quan sát trước đó.</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a:t>
            </a:r>
          </a:p>
        </p:txBody>
      </p:sp>
      <p:sp>
        <p:nvSpPr>
          <p:cNvPr id="5" name="TextBox 4"/>
          <p:cNvSpPr txBox="1"/>
          <p:nvPr/>
        </p:nvSpPr>
        <p:spPr>
          <a:xfrm>
            <a:off x="640080" y="1325880"/>
            <a:ext cx="10972800" cy="822960"/>
          </a:xfrm>
          <a:prstGeom prst="rect">
            <a:avLst/>
          </a:prstGeom>
          <a:noFill/>
          <a:effectLst/>
        </p:spPr>
        <p:txBody>
          <a:bodyPr wrap="square" lIns="0" rIns="0" tIns="0" bIns="0">
            <a:spAutoFit/>
          </a:bodyPr>
          <a:lstStyle/>
          <a:p>
            <a:pPr algn="l">
              <a:lnSpc>
                <a:spcPct val="103000"/>
              </a:lnSpc>
              <a:spcBef>
                <a:spcPts val="0"/>
              </a:spcBef>
              <a:spcAft>
                <a:spcPts val="300"/>
              </a:spcAft>
            </a:pPr>
            <a:r>
              <a:rPr sz="3300" b="1" i="0">
                <a:solidFill>
                  <a:srgbClr val="171717"/>
                </a:solidFill>
                <a:latin typeface="Times New Roman"/>
                <a:ea typeface="Times New Roman"/>
                <a:cs typeface="Times New Roman"/>
              </a:rPr>
              <a:t>Robustness và diễn giải động lực học PPG</a:t>
            </a:r>
          </a:p>
        </p:txBody>
      </p:sp>
      <p:sp>
        <p:nvSpPr>
          <p:cNvPr id="6" name="TextBox 5"/>
          <p:cNvSpPr txBox="1"/>
          <p:nvPr/>
        </p:nvSpPr>
        <p:spPr>
          <a:xfrm>
            <a:off x="658368" y="2276856"/>
            <a:ext cx="10972800" cy="566928"/>
          </a:xfrm>
          <a:prstGeom prst="rect">
            <a:avLst/>
          </a:prstGeom>
          <a:noFill/>
          <a:effectLst/>
        </p:spPr>
        <p:txBody>
          <a:bodyPr wrap="square" lIns="0" rIns="0" tIns="0" bIns="0">
            <a:spAutoFit/>
          </a:bodyPr>
          <a:lstStyle/>
          <a:p>
            <a:pPr algn="l">
              <a:lnSpc>
                <a:spcPct val="103000"/>
              </a:lnSpc>
              <a:spcBef>
                <a:spcPts val="0"/>
              </a:spcBef>
              <a:spcAft>
                <a:spcPts val="300"/>
              </a:spcAft>
            </a:pPr>
            <a:r>
              <a:rPr sz="2800" b="1" i="0">
                <a:solidFill>
                  <a:srgbClr val="171717"/>
                </a:solidFill>
                <a:latin typeface="Times New Roman"/>
                <a:ea typeface="Times New Roman"/>
                <a:cs typeface="Times New Roman"/>
              </a:rPr>
              <a:t>Kết quả chính của nghiên cứu được giữ nguyên.</a:t>
            </a:r>
          </a:p>
        </p:txBody>
      </p:sp>
      <p:sp>
        <p:nvSpPr>
          <p:cNvPr id="7" name="TextBox 6"/>
          <p:cNvSpPr txBox="1"/>
          <p:nvPr/>
        </p:nvSpPr>
        <p:spPr>
          <a:xfrm>
            <a:off x="777240" y="3108960"/>
            <a:ext cx="10789920" cy="576072"/>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Bổ sung và hoàn thiện sensitivity analysis (phân tích độ nhạy).</a:t>
            </a:r>
          </a:p>
        </p:txBody>
      </p:sp>
      <p:sp>
        <p:nvSpPr>
          <p:cNvPr id="8" name="TextBox 7"/>
          <p:cNvSpPr txBox="1"/>
          <p:nvPr/>
        </p:nvSpPr>
        <p:spPr>
          <a:xfrm>
            <a:off x="777240" y="3703320"/>
            <a:ext cx="10789920" cy="576072"/>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Làm rõ độ bền kết quả trước các lựa chọn phân tích.</a:t>
            </a:r>
          </a:p>
        </p:txBody>
      </p:sp>
      <p:sp>
        <p:nvSpPr>
          <p:cNvPr id="9" name="TextBox 8"/>
          <p:cNvSpPr txBox="1"/>
          <p:nvPr/>
        </p:nvSpPr>
        <p:spPr>
          <a:xfrm>
            <a:off x="777240" y="4297680"/>
            <a:ext cx="10789920" cy="576072"/>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Giải thích p-value, BH-FDR và phạm vi suy luận.</a:t>
            </a:r>
          </a:p>
        </p:txBody>
      </p:sp>
      <p:sp>
        <p:nvSpPr>
          <p:cNvPr id="10" name="TextBox 9"/>
          <p:cNvSpPr txBox="1"/>
          <p:nvPr/>
        </p:nvSpPr>
        <p:spPr>
          <a:xfrm>
            <a:off x="777240" y="4892040"/>
            <a:ext cx="10789920" cy="576072"/>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Kết nối các kết quả NTSA trong một cách diễn giải nhất quán.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Nhắc lại hai câu hỏi nghiên cứu</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RQ1 xét tổ chức động lực học; RQ2 mô tả thay đổi giữa Awake và Drowsy.</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2</a:t>
            </a:r>
          </a:p>
        </p:txBody>
      </p:sp>
      <p:sp>
        <p:nvSpPr>
          <p:cNvPr id="5" name="TextBox 4"/>
          <p:cNvSpPr txBox="1"/>
          <p:nvPr/>
        </p:nvSpPr>
        <p:spPr>
          <a:xfrm>
            <a:off x="822960" y="1380744"/>
            <a:ext cx="4983480" cy="402336"/>
          </a:xfrm>
          <a:prstGeom prst="rect">
            <a:avLst/>
          </a:prstGeom>
          <a:noFill/>
          <a:effectLst/>
        </p:spPr>
        <p:txBody>
          <a:bodyPr wrap="square" lIns="0" rIns="0" tIns="0" bIns="0">
            <a:spAutoFit/>
          </a:bodyPr>
          <a:lstStyle/>
          <a:p>
            <a:pPr algn="l">
              <a:lnSpc>
                <a:spcPct val="103000"/>
              </a:lnSpc>
              <a:spcBef>
                <a:spcPts val="0"/>
              </a:spcBef>
              <a:spcAft>
                <a:spcPts val="300"/>
              </a:spcAft>
            </a:pPr>
            <a:r>
              <a:rPr sz="2800" b="1" i="0">
                <a:solidFill>
                  <a:srgbClr val="1F77B4"/>
                </a:solidFill>
                <a:latin typeface="Times New Roman"/>
                <a:ea typeface="Times New Roman"/>
                <a:cs typeface="Times New Roman"/>
              </a:rPr>
              <a:t>RQ1 — PPG gốc so với PPS</a:t>
            </a:r>
          </a:p>
        </p:txBody>
      </p:sp>
      <p:sp>
        <p:nvSpPr>
          <p:cNvPr id="6" name="TextBox 5"/>
          <p:cNvSpPr txBox="1"/>
          <p:nvPr/>
        </p:nvSpPr>
        <p:spPr>
          <a:xfrm>
            <a:off x="6428232" y="1380744"/>
            <a:ext cx="4983480" cy="402336"/>
          </a:xfrm>
          <a:prstGeom prst="rect">
            <a:avLst/>
          </a:prstGeom>
          <a:noFill/>
          <a:effectLst/>
        </p:spPr>
        <p:txBody>
          <a:bodyPr wrap="square" lIns="0" rIns="0" tIns="0" bIns="0">
            <a:spAutoFit/>
          </a:bodyPr>
          <a:lstStyle/>
          <a:p>
            <a:pPr algn="l">
              <a:lnSpc>
                <a:spcPct val="103000"/>
              </a:lnSpc>
              <a:spcBef>
                <a:spcPts val="0"/>
              </a:spcBef>
              <a:spcAft>
                <a:spcPts val="300"/>
              </a:spcAft>
            </a:pPr>
            <a:r>
              <a:rPr sz="2800" b="1" i="0">
                <a:solidFill>
                  <a:srgbClr val="1F77B4"/>
                </a:solidFill>
                <a:latin typeface="Times New Roman"/>
                <a:ea typeface="Times New Roman"/>
                <a:cs typeface="Times New Roman"/>
              </a:rPr>
              <a:t>RQ2 — Awake so với Drowsy</a:t>
            </a:r>
          </a:p>
        </p:txBody>
      </p:sp>
      <p:cxnSp>
        <p:nvCxnSpPr>
          <p:cNvPr id="7" name="Connector 6"/>
          <p:cNvCxnSpPr/>
          <p:nvPr/>
        </p:nvCxnSpPr>
        <p:spPr>
          <a:xfrm>
            <a:off x="822960" y="1938528"/>
            <a:ext cx="4709160"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6428232" y="1938528"/>
            <a:ext cx="4892040"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822960" y="2267712"/>
            <a:ext cx="4828032" cy="1280160"/>
          </a:xfrm>
          <a:prstGeom prst="rect">
            <a:avLst/>
          </a:prstGeom>
          <a:noFill/>
          <a:effectLst/>
        </p:spPr>
        <p:txBody>
          <a:bodyPr wrap="square" lIns="0" rIns="0" tIns="0" bIns="0">
            <a:spAutoFit/>
          </a:bodyPr>
          <a:lstStyle/>
          <a:p>
            <a:pPr algn="l">
              <a:lnSpc>
                <a:spcPct val="103000"/>
              </a:lnSpc>
              <a:spcBef>
                <a:spcPts val="0"/>
              </a:spcBef>
              <a:spcAft>
                <a:spcPts val="300"/>
              </a:spcAft>
            </a:pPr>
            <a:r>
              <a:rPr sz="2600" b="0" i="0">
                <a:solidFill>
                  <a:srgbClr val="171717"/>
                </a:solidFill>
                <a:latin typeface="Times New Roman"/>
                <a:ea typeface="Times New Roman"/>
                <a:cs typeface="Times New Roman"/>
              </a:rPr>
              <a:t>PPG có tổ chức động lực học mà mô hình giả chu kỳ có nhiễu đã chọn không tái tạo đầy đủ không?</a:t>
            </a:r>
          </a:p>
        </p:txBody>
      </p:sp>
      <p:sp>
        <p:nvSpPr>
          <p:cNvPr id="10" name="TextBox 9"/>
          <p:cNvSpPr txBox="1"/>
          <p:nvPr/>
        </p:nvSpPr>
        <p:spPr>
          <a:xfrm>
            <a:off x="6428232" y="2267712"/>
            <a:ext cx="4736592" cy="1280160"/>
          </a:xfrm>
          <a:prstGeom prst="rect">
            <a:avLst/>
          </a:prstGeom>
          <a:noFill/>
          <a:effectLst/>
        </p:spPr>
        <p:txBody>
          <a:bodyPr wrap="square" lIns="0" rIns="0" tIns="0" bIns="0">
            <a:spAutoFit/>
          </a:bodyPr>
          <a:lstStyle/>
          <a:p>
            <a:pPr algn="l">
              <a:lnSpc>
                <a:spcPct val="103000"/>
              </a:lnSpc>
              <a:spcBef>
                <a:spcPts val="0"/>
              </a:spcBef>
              <a:spcAft>
                <a:spcPts val="300"/>
              </a:spcAft>
            </a:pPr>
            <a:r>
              <a:rPr sz="2600" b="0" i="0">
                <a:solidFill>
                  <a:srgbClr val="171717"/>
                </a:solidFill>
                <a:latin typeface="Times New Roman"/>
                <a:ea typeface="Times New Roman"/>
                <a:cs typeface="Times New Roman"/>
              </a:rPr>
              <a:t>Các đặc trưng động lực học thay đổi thế nào khi chuyển từ Awake sang Drowsy?</a:t>
            </a:r>
          </a:p>
        </p:txBody>
      </p:sp>
      <p:sp>
        <p:nvSpPr>
          <p:cNvPr id="11" name="TextBox 10"/>
          <p:cNvSpPr txBox="1"/>
          <p:nvPr/>
        </p:nvSpPr>
        <p:spPr>
          <a:xfrm>
            <a:off x="877824" y="4014215"/>
            <a:ext cx="4745736" cy="566928"/>
          </a:xfrm>
          <a:prstGeom prst="rect">
            <a:avLst/>
          </a:prstGeom>
          <a:noFill/>
          <a:effectLst/>
        </p:spPr>
        <p:txBody>
          <a:bodyPr wrap="square" lIns="0" rIns="0" tIns="0" bIns="0">
            <a:spAutoFit/>
          </a:bodyPr>
          <a:lstStyle/>
          <a:p>
            <a:pPr algn="ctr">
              <a:lnSpc>
                <a:spcPct val="103000"/>
              </a:lnSpc>
              <a:spcBef>
                <a:spcPts val="0"/>
              </a:spcBef>
              <a:spcAft>
                <a:spcPts val="300"/>
              </a:spcAft>
            </a:pPr>
            <a:r>
              <a:rPr sz="3100" b="1" i="0">
                <a:solidFill>
                  <a:srgbClr val="171717"/>
                </a:solidFill>
                <a:latin typeface="Times New Roman"/>
                <a:ea typeface="Times New Roman"/>
                <a:cs typeface="Times New Roman"/>
              </a:rPr>
              <a:t>PPG gốc  ↔  PPS null</a:t>
            </a:r>
          </a:p>
        </p:txBody>
      </p:sp>
      <p:sp>
        <p:nvSpPr>
          <p:cNvPr id="12" name="TextBox 11"/>
          <p:cNvSpPr txBox="1"/>
          <p:nvPr/>
        </p:nvSpPr>
        <p:spPr>
          <a:xfrm>
            <a:off x="6492240" y="4014215"/>
            <a:ext cx="4718304" cy="566928"/>
          </a:xfrm>
          <a:prstGeom prst="rect">
            <a:avLst/>
          </a:prstGeom>
          <a:noFill/>
          <a:effectLst/>
        </p:spPr>
        <p:txBody>
          <a:bodyPr wrap="square" lIns="0" rIns="0" tIns="0" bIns="0">
            <a:spAutoFit/>
          </a:bodyPr>
          <a:lstStyle/>
          <a:p>
            <a:pPr algn="ctr">
              <a:lnSpc>
                <a:spcPct val="103000"/>
              </a:lnSpc>
              <a:spcBef>
                <a:spcPts val="0"/>
              </a:spcBef>
              <a:spcAft>
                <a:spcPts val="300"/>
              </a:spcAft>
            </a:pPr>
            <a:r>
              <a:rPr sz="3100" b="1" i="0">
                <a:solidFill>
                  <a:srgbClr val="171717"/>
                </a:solidFill>
                <a:latin typeface="Times New Roman"/>
                <a:ea typeface="Times New Roman"/>
                <a:cs typeface="Times New Roman"/>
              </a:rPr>
              <a:t>Awake  →  Drowsy</a:t>
            </a:r>
          </a:p>
        </p:txBody>
      </p:sp>
      <p:sp>
        <p:nvSpPr>
          <p:cNvPr id="13" name="TextBox 12"/>
          <p:cNvSpPr txBox="1"/>
          <p:nvPr/>
        </p:nvSpPr>
        <p:spPr>
          <a:xfrm>
            <a:off x="868680" y="4992624"/>
            <a:ext cx="4718304" cy="612648"/>
          </a:xfrm>
          <a:prstGeom prst="rect">
            <a:avLst/>
          </a:prstGeom>
          <a:noFill/>
          <a:effectLst/>
        </p:spPr>
        <p:txBody>
          <a:bodyPr wrap="square" lIns="0" rIns="0" tIns="0" bIns="0">
            <a:spAutoFit/>
          </a:bodyPr>
          <a:lstStyle/>
          <a:p>
            <a:pPr algn="ctr">
              <a:lnSpc>
                <a:spcPct val="103000"/>
              </a:lnSpc>
              <a:spcBef>
                <a:spcPts val="0"/>
              </a:spcBef>
              <a:spcAft>
                <a:spcPts val="300"/>
              </a:spcAft>
            </a:pPr>
            <a:r>
              <a:rPr sz="2200" b="0" i="0">
                <a:solidFill>
                  <a:srgbClr val="777777"/>
                </a:solidFill>
                <a:latin typeface="Times New Roman"/>
                <a:ea typeface="Times New Roman"/>
                <a:cs typeface="Times New Roman"/>
              </a:rPr>
              <a:t>PPS: noisy pseudoperiodic null</a:t>
            </a:r>
          </a:p>
          <a:p>
            <a:pPr algn="ctr">
              <a:lnSpc>
                <a:spcPct val="103000"/>
              </a:lnSpc>
              <a:spcBef>
                <a:spcPts val="0"/>
              </a:spcBef>
              <a:spcAft>
                <a:spcPts val="300"/>
              </a:spcAft>
            </a:pPr>
            <a:r>
              <a:rPr sz="2200" b="0" i="0">
                <a:solidFill>
                  <a:srgbClr val="777777"/>
                </a:solidFill>
                <a:latin typeface="Times New Roman"/>
                <a:ea typeface="Times New Roman"/>
                <a:cs typeface="Times New Roman"/>
              </a:rPr>
              <a:t>(mô hình giả chu kỳ có nhiễu).</a:t>
            </a:r>
          </a:p>
        </p:txBody>
      </p:sp>
      <p:sp>
        <p:nvSpPr>
          <p:cNvPr id="14" name="TextBox 13"/>
          <p:cNvSpPr txBox="1"/>
          <p:nvPr/>
        </p:nvSpPr>
        <p:spPr>
          <a:xfrm>
            <a:off x="6492240" y="4992624"/>
            <a:ext cx="4718304" cy="612648"/>
          </a:xfrm>
          <a:prstGeom prst="rect">
            <a:avLst/>
          </a:prstGeom>
          <a:noFill/>
          <a:effectLst/>
        </p:spPr>
        <p:txBody>
          <a:bodyPr wrap="square" lIns="0" rIns="0" tIns="0" bIns="0">
            <a:spAutoFit/>
          </a:bodyPr>
          <a:lstStyle/>
          <a:p>
            <a:pPr algn="ctr">
              <a:lnSpc>
                <a:spcPct val="103000"/>
              </a:lnSpc>
              <a:spcBef>
                <a:spcPts val="0"/>
              </a:spcBef>
              <a:spcAft>
                <a:spcPts val="300"/>
              </a:spcAft>
            </a:pPr>
            <a:r>
              <a:rPr sz="2200" b="0" i="0">
                <a:solidFill>
                  <a:srgbClr val="777777"/>
                </a:solidFill>
                <a:latin typeface="Times New Roman"/>
                <a:ea typeface="Times New Roman"/>
                <a:cs typeface="Times New Roman"/>
              </a:rPr>
              <a:t>So sánh cặp ở mức phiên ghi</a:t>
            </a:r>
          </a:p>
          <a:p>
            <a:pPr algn="ctr">
              <a:lnSpc>
                <a:spcPct val="103000"/>
              </a:lnSpc>
              <a:spcBef>
                <a:spcPts val="0"/>
              </a:spcBef>
              <a:spcAft>
                <a:spcPts val="300"/>
              </a:spcAft>
            </a:pPr>
            <a:r>
              <a:rPr sz="2200" b="0" i="0">
                <a:solidFill>
                  <a:srgbClr val="777777"/>
                </a:solidFill>
                <a:latin typeface="Times New Roman"/>
                <a:ea typeface="Times New Roman"/>
                <a:cs typeface="Times New Roman"/>
              </a:rPr>
              <a:t>(recording-session level).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Kết quả chính của RQ1</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PPG ở cả hai trạng thái có tổ chức mà PPS null đã chọn không tái tạo đầy đủ.</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3</a:t>
            </a:r>
          </a:p>
        </p:txBody>
      </p:sp>
      <p:sp>
        <p:nvSpPr>
          <p:cNvPr id="5" name="TextBox 4"/>
          <p:cNvSpPr txBox="1"/>
          <p:nvPr/>
        </p:nvSpPr>
        <p:spPr>
          <a:xfrm>
            <a:off x="676656" y="1307592"/>
            <a:ext cx="10881360" cy="393192"/>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71717"/>
                </a:solidFill>
                <a:latin typeface="Times New Roman"/>
                <a:ea typeface="Times New Roman"/>
                <a:cs typeface="Times New Roman"/>
              </a:rPr>
              <a:t>Nhiều cửa sổ bác bỏ PPS null trong cả Awake và Drowsy.</a:t>
            </a:r>
          </a:p>
        </p:txBody>
      </p:sp>
      <p:sp>
        <p:nvSpPr>
          <p:cNvPr id="6" name="TextBox 5"/>
          <p:cNvSpPr txBox="1"/>
          <p:nvPr/>
        </p:nvSpPr>
        <p:spPr>
          <a:xfrm>
            <a:off x="704088" y="1993392"/>
            <a:ext cx="5230368" cy="667512"/>
          </a:xfrm>
          <a:prstGeom prst="rect">
            <a:avLst/>
          </a:prstGeom>
          <a:noFill/>
          <a:effectLst/>
        </p:spPr>
        <p:txBody>
          <a:bodyPr wrap="square" lIns="0" rIns="0" tIns="0" bIns="0">
            <a:spAutoFit/>
          </a:bodyPr>
          <a:lstStyle/>
          <a:p>
            <a:pPr algn="l">
              <a:lnSpc>
                <a:spcPct val="103000"/>
              </a:lnSpc>
              <a:spcBef>
                <a:spcPts val="0"/>
              </a:spcBef>
              <a:spcAft>
                <a:spcPts val="300"/>
              </a:spcAft>
            </a:pPr>
            <a:r>
              <a:rPr sz="2300" b="1" i="0">
                <a:solidFill>
                  <a:srgbClr val="171717"/>
                </a:solidFill>
                <a:latin typeface="Times New Roman"/>
                <a:ea typeface="Times New Roman"/>
                <a:cs typeface="Times New Roman"/>
              </a:rPr>
              <a:t>Tỷ lệ bác bỏ PPS (%)</a:t>
            </a:r>
          </a:p>
          <a:p>
            <a:pPr algn="l">
              <a:lnSpc>
                <a:spcPct val="103000"/>
              </a:lnSpc>
              <a:spcBef>
                <a:spcPts val="0"/>
              </a:spcBef>
              <a:spcAft>
                <a:spcPts val="300"/>
              </a:spcAft>
            </a:pPr>
            <a:r>
              <a:rPr sz="2300" b="1" i="0">
                <a:solidFill>
                  <a:srgbClr val="171717"/>
                </a:solidFill>
                <a:latin typeface="Times New Roman"/>
                <a:ea typeface="Times New Roman"/>
                <a:cs typeface="Times New Roman"/>
              </a:rPr>
              <a:t>Trung vị theo 20 phiên ghi</a:t>
            </a:r>
          </a:p>
        </p:txBody>
      </p:sp>
      <p:graphicFrame>
        <p:nvGraphicFramePr>
          <p:cNvPr id="7" name="Table 6"/>
          <p:cNvGraphicFramePr>
            <a:graphicFrameLocks noGrp="1"/>
          </p:cNvGraphicFramePr>
          <p:nvPr/>
        </p:nvGraphicFramePr>
        <p:xfrm>
          <a:off x="685800" y="2798064"/>
          <a:ext cx="5129784" cy="2048256"/>
        </p:xfrm>
        <a:graphic>
          <a:graphicData uri="http://schemas.openxmlformats.org/drawingml/2006/table">
            <a:tbl>
              <a:tblPr firstRow="1" bandRow="1">
                <a:tableStyleId>{5C22544A-7EE6-4342-B048-85BDC9FD1C3A}</a:tableStyleId>
              </a:tblPr>
              <a:tblGrid>
                <a:gridCol w="2221992"/>
                <a:gridCol w="1426464"/>
                <a:gridCol w="1481328"/>
              </a:tblGrid>
              <a:tr h="512064">
                <a:tc>
                  <a:txBody>
                    <a:bodyPr wrap="square"/>
                    <a:lstStyle/>
                    <a:p>
                      <a:pPr algn="l">
                        <a:lnSpc>
                          <a:spcPct val="100000"/>
                        </a:lnSpc>
                        <a:spcAft>
                          <a:spcPts val="0"/>
                        </a:spcAft>
                      </a:pPr>
                      <a:r>
                        <a:rPr sz="2300" b="1" i="0">
                          <a:solidFill>
                            <a:srgbClr val="171717"/>
                          </a:solidFill>
                          <a:latin typeface="Times New Roman"/>
                          <a:ea typeface="Times New Roman"/>
                          <a:cs typeface="Times New Roman"/>
                        </a:rPr>
                        <a:t>Chỉ số</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Awake</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Drowsy</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r>
              <a:tr h="512064">
                <a:tc>
                  <a:txBody>
                    <a:bodyPr wrap="square"/>
                    <a:lstStyle/>
                    <a:p>
                      <a:pPr algn="l">
                        <a:lnSpc>
                          <a:spcPct val="100000"/>
                        </a:lnSpc>
                        <a:spcAft>
                          <a:spcPts val="0"/>
                        </a:spcAft>
                      </a:pPr>
                      <a:r>
                        <a:rPr sz="2300" b="0" i="0">
                          <a:solidFill>
                            <a:srgbClr val="171717"/>
                          </a:solidFill>
                          <a:latin typeface="Times New Roman"/>
                          <a:ea typeface="Times New Roman"/>
                          <a:cs typeface="Times New Roman"/>
                        </a:rPr>
                        <a:t>Mean CC</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60.66</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71.01</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12064">
                <a:tc>
                  <a:txBody>
                    <a:bodyPr wrap="square"/>
                    <a:lstStyle/>
                    <a:p>
                      <a:pPr algn="l">
                        <a:lnSpc>
                          <a:spcPct val="100000"/>
                        </a:lnSpc>
                        <a:spcAft>
                          <a:spcPts val="0"/>
                        </a:spcAft>
                      </a:pPr>
                      <a:r>
                        <a:rPr sz="2300" b="0" i="0">
                          <a:solidFill>
                            <a:srgbClr val="171717"/>
                          </a:solidFill>
                          <a:latin typeface="Times New Roman"/>
                          <a:ea typeface="Times New Roman"/>
                          <a:cs typeface="Times New Roman"/>
                        </a:rPr>
                        <a:t>DET (danh định)</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100.00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100.00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12064">
                <a:tc>
                  <a:txBody>
                    <a:bodyPr wrap="square"/>
                    <a:lstStyle/>
                    <a:p>
                      <a:pPr algn="l">
                        <a:lnSpc>
                          <a:spcPct val="100000"/>
                        </a:lnSpc>
                        <a:spcAft>
                          <a:spcPts val="0"/>
                        </a:spcAft>
                      </a:pPr>
                      <a:r>
                        <a:rPr sz="2300" b="0" i="0">
                          <a:solidFill>
                            <a:srgbClr val="171717"/>
                          </a:solidFill>
                          <a:latin typeface="Times New Roman"/>
                          <a:ea typeface="Times New Roman"/>
                          <a:cs typeface="Times New Roman"/>
                        </a:rPr>
                        <a:t>LLE ước lượng</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96.30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100.00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bl>
          </a:graphicData>
        </a:graphic>
      </p:graphicFrame>
      <p:sp>
        <p:nvSpPr>
          <p:cNvPr id="8" name="TextBox 7"/>
          <p:cNvSpPr txBox="1"/>
          <p:nvPr/>
        </p:nvSpPr>
        <p:spPr>
          <a:xfrm>
            <a:off x="6446520" y="1993392"/>
            <a:ext cx="4709160" cy="365760"/>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F77B4"/>
                </a:solidFill>
                <a:latin typeface="Times New Roman"/>
                <a:ea typeface="Times New Roman"/>
                <a:cs typeface="Times New Roman"/>
              </a:rPr>
              <a:t>PPG gốc so với PPS</a:t>
            </a:r>
          </a:p>
        </p:txBody>
      </p:sp>
      <p:sp>
        <p:nvSpPr>
          <p:cNvPr id="9" name="TextBox 8"/>
          <p:cNvSpPr txBox="1"/>
          <p:nvPr/>
        </p:nvSpPr>
        <p:spPr>
          <a:xfrm>
            <a:off x="6446520" y="2615184"/>
            <a:ext cx="4800600" cy="2039112"/>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Dự báo: Mean CC ↑, Mean NRMSE ↓</a:t>
            </a:r>
          </a:p>
          <a:p>
            <a:pPr algn="l">
              <a:lnSpc>
                <a:spcPct val="103000"/>
              </a:lnSpc>
              <a:spcBef>
                <a:spcPts val="0"/>
              </a:spcBef>
              <a:spcAft>
                <a:spcPts val="300"/>
              </a:spcAft>
            </a:pPr>
            <a:r>
              <a:rPr sz="2400" b="0" i="0">
                <a:solidFill>
                  <a:srgbClr val="171717"/>
                </a:solidFill>
                <a:latin typeface="Times New Roman"/>
                <a:ea typeface="Times New Roman"/>
                <a:cs typeface="Times New Roman"/>
              </a:rPr>
              <a:t>Recurrence: DET ↑, Lmean ↑</a:t>
            </a:r>
          </a:p>
          <a:p>
            <a:pPr algn="l">
              <a:lnSpc>
                <a:spcPct val="103000"/>
              </a:lnSpc>
              <a:spcBef>
                <a:spcPts val="0"/>
              </a:spcBef>
              <a:spcAft>
                <a:spcPts val="300"/>
              </a:spcAft>
            </a:pPr>
            <a:r>
              <a:rPr sz="2400" b="0" i="0">
                <a:solidFill>
                  <a:srgbClr val="171717"/>
                </a:solidFill>
                <a:latin typeface="Times New Roman"/>
                <a:ea typeface="Times New Roman"/>
                <a:cs typeface="Times New Roman"/>
              </a:rPr>
              <a:t>Phân kỳ cục bộ ước lượng: LLE ↑</a:t>
            </a:r>
          </a:p>
        </p:txBody>
      </p:sp>
      <p:sp>
        <p:nvSpPr>
          <p:cNvPr id="10" name="TextBox 9"/>
          <p:cNvSpPr txBox="1"/>
          <p:nvPr/>
        </p:nvSpPr>
        <p:spPr>
          <a:xfrm>
            <a:off x="704088" y="5166360"/>
            <a:ext cx="10625328" cy="484632"/>
          </a:xfrm>
          <a:prstGeom prst="rect">
            <a:avLst/>
          </a:prstGeom>
          <a:noFill/>
          <a:effectLst/>
        </p:spPr>
        <p:txBody>
          <a:bodyPr wrap="square" lIns="0" rIns="0" tIns="0" bIns="0">
            <a:spAutoFit/>
          </a:bodyPr>
          <a:lstStyle/>
          <a:p>
            <a:pPr algn="l">
              <a:lnSpc>
                <a:spcPct val="103000"/>
              </a:lnSpc>
              <a:spcBef>
                <a:spcPts val="0"/>
              </a:spcBef>
              <a:spcAft>
                <a:spcPts val="300"/>
              </a:spcAft>
            </a:pPr>
            <a:r>
              <a:rPr sz="2400" b="1" i="0">
                <a:solidFill>
                  <a:srgbClr val="171717"/>
                </a:solidFill>
                <a:latin typeface="Times New Roman"/>
                <a:ea typeface="Times New Roman"/>
                <a:cs typeface="Times New Roman"/>
              </a:rPr>
              <a:t>Chỉ là bằng chứng chống lại null đã thử; không suy ra tính hỗn loạn tất định.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Kết quả chính của RQ2</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Buồn ngủ đi kèm thay đổi ở khả năng dự báo, recurrence và độ phân kỳ cục bộ.</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4</a:t>
            </a:r>
          </a:p>
        </p:txBody>
      </p:sp>
      <p:sp>
        <p:nvSpPr>
          <p:cNvPr id="5" name="TextBox 4"/>
          <p:cNvSpPr txBox="1"/>
          <p:nvPr/>
        </p:nvSpPr>
        <p:spPr>
          <a:xfrm>
            <a:off x="694944" y="1289304"/>
            <a:ext cx="10881360" cy="448056"/>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Cấu hình chính: cửa sổ 60 s; Δ = Drowsy − Awake ở mức phiên ghi.</a:t>
            </a:r>
          </a:p>
        </p:txBody>
      </p:sp>
      <p:sp>
        <p:nvSpPr>
          <p:cNvPr id="6" name="TextBox 5"/>
          <p:cNvSpPr txBox="1"/>
          <p:nvPr/>
        </p:nvSpPr>
        <p:spPr>
          <a:xfrm>
            <a:off x="694944" y="2011680"/>
            <a:ext cx="3099816" cy="393192"/>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F77B4"/>
                </a:solidFill>
                <a:latin typeface="Times New Roman"/>
                <a:ea typeface="Times New Roman"/>
                <a:cs typeface="Times New Roman"/>
              </a:rPr>
              <a:t>Simplex Projection</a:t>
            </a:r>
          </a:p>
        </p:txBody>
      </p:sp>
      <p:cxnSp>
        <p:nvCxnSpPr>
          <p:cNvPr id="7" name="Connector 6"/>
          <p:cNvCxnSpPr/>
          <p:nvPr/>
        </p:nvCxnSpPr>
        <p:spPr>
          <a:xfrm>
            <a:off x="694944" y="2569464"/>
            <a:ext cx="3054095"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4562856" y="2011680"/>
            <a:ext cx="3099816" cy="393192"/>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F77B4"/>
                </a:solidFill>
                <a:latin typeface="Times New Roman"/>
                <a:ea typeface="Times New Roman"/>
                <a:cs typeface="Times New Roman"/>
              </a:rPr>
              <a:t>RQA</a:t>
            </a:r>
          </a:p>
        </p:txBody>
      </p:sp>
      <p:cxnSp>
        <p:nvCxnSpPr>
          <p:cNvPr id="9" name="Connector 8"/>
          <p:cNvCxnSpPr/>
          <p:nvPr/>
        </p:nvCxnSpPr>
        <p:spPr>
          <a:xfrm>
            <a:off x="4562856" y="2569464"/>
            <a:ext cx="3054096"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8430768" y="2011680"/>
            <a:ext cx="3099816" cy="393192"/>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F77B4"/>
                </a:solidFill>
                <a:latin typeface="Times New Roman"/>
                <a:ea typeface="Times New Roman"/>
                <a:cs typeface="Times New Roman"/>
              </a:rPr>
              <a:t>Rosenstein LLE</a:t>
            </a:r>
          </a:p>
        </p:txBody>
      </p:sp>
      <p:cxnSp>
        <p:nvCxnSpPr>
          <p:cNvPr id="11" name="Connector 10"/>
          <p:cNvCxnSpPr/>
          <p:nvPr/>
        </p:nvCxnSpPr>
        <p:spPr>
          <a:xfrm>
            <a:off x="8430768" y="2569464"/>
            <a:ext cx="3054096"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94944" y="2880360"/>
            <a:ext cx="3236976" cy="1554480"/>
          </a:xfrm>
          <a:prstGeom prst="rect">
            <a:avLst/>
          </a:prstGeom>
          <a:noFill/>
          <a:effectLst/>
        </p:spPr>
        <p:txBody>
          <a:bodyPr wrap="square" lIns="0" rIns="0" tIns="0" bIns="0">
            <a:spAutoFit/>
          </a:bodyPr>
          <a:lstStyle/>
          <a:p>
            <a:pPr algn="l">
              <a:lnSpc>
                <a:spcPct val="103000"/>
              </a:lnSpc>
              <a:spcBef>
                <a:spcPts val="0"/>
              </a:spcBef>
              <a:spcAft>
                <a:spcPts val="300"/>
              </a:spcAft>
            </a:pPr>
            <a:r>
              <a:rPr sz="2400" b="1" i="0">
                <a:solidFill>
                  <a:srgbClr val="171717"/>
                </a:solidFill>
                <a:latin typeface="Times New Roman"/>
                <a:ea typeface="Times New Roman"/>
                <a:cs typeface="Times New Roman"/>
              </a:rPr>
              <a:t>Mean CC ↓</a:t>
            </a:r>
          </a:p>
          <a:p>
            <a:pPr algn="l">
              <a:lnSpc>
                <a:spcPct val="103000"/>
              </a:lnSpc>
              <a:spcBef>
                <a:spcPts val="0"/>
              </a:spcBef>
              <a:spcAft>
                <a:spcPts val="300"/>
              </a:spcAft>
            </a:pPr>
            <a:r>
              <a:rPr sz="2400" b="1" i="0">
                <a:solidFill>
                  <a:srgbClr val="171717"/>
                </a:solidFill>
                <a:latin typeface="Times New Roman"/>
                <a:ea typeface="Times New Roman"/>
                <a:cs typeface="Times New Roman"/>
              </a:rPr>
              <a:t>Δ = −0.0339</a:t>
            </a:r>
          </a:p>
          <a:p>
            <a:pPr algn="l">
              <a:lnSpc>
                <a:spcPct val="103000"/>
              </a:lnSpc>
              <a:spcBef>
                <a:spcPts val="0"/>
              </a:spcBef>
              <a:spcAft>
                <a:spcPts val="300"/>
              </a:spcAft>
            </a:pPr>
            <a:r>
              <a:rPr sz="2400" b="1" i="0">
                <a:solidFill>
                  <a:srgbClr val="171717"/>
                </a:solidFill>
                <a:latin typeface="Times New Roman"/>
                <a:ea typeface="Times New Roman"/>
                <a:cs typeface="Times New Roman"/>
              </a:rPr>
              <a:t>Mean NRMSE ↑</a:t>
            </a:r>
          </a:p>
          <a:p>
            <a:pPr algn="l">
              <a:lnSpc>
                <a:spcPct val="103000"/>
              </a:lnSpc>
              <a:spcBef>
                <a:spcPts val="0"/>
              </a:spcBef>
              <a:spcAft>
                <a:spcPts val="300"/>
              </a:spcAft>
            </a:pPr>
            <a:r>
              <a:rPr sz="2400" b="1" i="0">
                <a:solidFill>
                  <a:srgbClr val="171717"/>
                </a:solidFill>
                <a:latin typeface="Times New Roman"/>
                <a:ea typeface="Times New Roman"/>
                <a:cs typeface="Times New Roman"/>
              </a:rPr>
              <a:t>Δ = +0.0294</a:t>
            </a:r>
          </a:p>
        </p:txBody>
      </p:sp>
      <p:sp>
        <p:nvSpPr>
          <p:cNvPr id="13" name="TextBox 12"/>
          <p:cNvSpPr txBox="1"/>
          <p:nvPr/>
        </p:nvSpPr>
        <p:spPr>
          <a:xfrm>
            <a:off x="694944" y="4663440"/>
            <a:ext cx="3172968" cy="79552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Khả năng dự báo</a:t>
            </a:r>
          </a:p>
          <a:p>
            <a:pPr algn="l">
              <a:lnSpc>
                <a:spcPct val="103000"/>
              </a:lnSpc>
              <a:spcBef>
                <a:spcPts val="0"/>
              </a:spcBef>
              <a:spcAft>
                <a:spcPts val="300"/>
              </a:spcAft>
            </a:pPr>
            <a:r>
              <a:rPr sz="2400" b="0" i="0">
                <a:solidFill>
                  <a:srgbClr val="171717"/>
                </a:solidFill>
                <a:latin typeface="Times New Roman"/>
                <a:ea typeface="Times New Roman"/>
                <a:cs typeface="Times New Roman"/>
              </a:rPr>
              <a:t>hữu hạn giảm.</a:t>
            </a:r>
          </a:p>
        </p:txBody>
      </p:sp>
      <p:sp>
        <p:nvSpPr>
          <p:cNvPr id="14" name="TextBox 13"/>
          <p:cNvSpPr txBox="1"/>
          <p:nvPr/>
        </p:nvSpPr>
        <p:spPr>
          <a:xfrm>
            <a:off x="4562856" y="2880360"/>
            <a:ext cx="3172968" cy="512064"/>
          </a:xfrm>
          <a:prstGeom prst="rect">
            <a:avLst/>
          </a:prstGeom>
          <a:noFill/>
          <a:effectLst/>
        </p:spPr>
        <p:txBody>
          <a:bodyPr wrap="square" lIns="0" rIns="0" tIns="0" bIns="0">
            <a:spAutoFit/>
          </a:bodyPr>
          <a:lstStyle/>
          <a:p>
            <a:pPr algn="l">
              <a:lnSpc>
                <a:spcPct val="103000"/>
              </a:lnSpc>
              <a:spcBef>
                <a:spcPts val="0"/>
              </a:spcBef>
              <a:spcAft>
                <a:spcPts val="300"/>
              </a:spcAft>
            </a:pPr>
            <a:r>
              <a:rPr sz="2600" b="1" i="0">
                <a:solidFill>
                  <a:srgbClr val="171717"/>
                </a:solidFill>
                <a:latin typeface="Times New Roman"/>
                <a:ea typeface="Times New Roman"/>
                <a:cs typeface="Times New Roman"/>
              </a:rPr>
              <a:t>DET ↓    Δ = −0.0186</a:t>
            </a:r>
          </a:p>
        </p:txBody>
      </p:sp>
      <p:sp>
        <p:nvSpPr>
          <p:cNvPr id="15" name="TextBox 14"/>
          <p:cNvSpPr txBox="1"/>
          <p:nvPr/>
        </p:nvSpPr>
        <p:spPr>
          <a:xfrm>
            <a:off x="4562856" y="3611880"/>
            <a:ext cx="3182112" cy="1197864"/>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Tổ chức lặp lại theo đường chéo giảm, dưới cấu hình tái dựng danh định.</a:t>
            </a:r>
          </a:p>
        </p:txBody>
      </p:sp>
      <p:sp>
        <p:nvSpPr>
          <p:cNvPr id="16" name="TextBox 15"/>
          <p:cNvSpPr txBox="1"/>
          <p:nvPr/>
        </p:nvSpPr>
        <p:spPr>
          <a:xfrm>
            <a:off x="4562856" y="5020056"/>
            <a:ext cx="3182112" cy="530352"/>
          </a:xfrm>
          <a:prstGeom prst="rect">
            <a:avLst/>
          </a:prstGeom>
          <a:noFill/>
          <a:effectLst/>
        </p:spPr>
        <p:txBody>
          <a:bodyPr wrap="square" lIns="0" rIns="0" tIns="0" bIns="0">
            <a:spAutoFit/>
          </a:bodyPr>
          <a:lstStyle/>
          <a:p>
            <a:pPr algn="l">
              <a:lnSpc>
                <a:spcPct val="103000"/>
              </a:lnSpc>
              <a:spcBef>
                <a:spcPts val="0"/>
              </a:spcBef>
              <a:spcAft>
                <a:spcPts val="300"/>
              </a:spcAft>
            </a:pPr>
            <a:r>
              <a:rPr sz="2200" b="1" i="0">
                <a:solidFill>
                  <a:srgbClr val="171717"/>
                </a:solidFill>
                <a:latin typeface="Times New Roman"/>
                <a:ea typeface="Times New Roman"/>
                <a:cs typeface="Times New Roman"/>
              </a:rPr>
              <a:t>τ = 0.16 s, m = 8.</a:t>
            </a:r>
          </a:p>
        </p:txBody>
      </p:sp>
      <p:sp>
        <p:nvSpPr>
          <p:cNvPr id="17" name="TextBox 16"/>
          <p:cNvSpPr txBox="1"/>
          <p:nvPr/>
        </p:nvSpPr>
        <p:spPr>
          <a:xfrm>
            <a:off x="8430768" y="2880360"/>
            <a:ext cx="3154680" cy="713232"/>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71717"/>
                </a:solidFill>
                <a:latin typeface="Times New Roman"/>
                <a:ea typeface="Times New Roman"/>
                <a:cs typeface="Times New Roman"/>
              </a:rPr>
              <a:t>LLE ↓</a:t>
            </a:r>
          </a:p>
          <a:p>
            <a:pPr algn="l">
              <a:lnSpc>
                <a:spcPct val="103000"/>
              </a:lnSpc>
              <a:spcBef>
                <a:spcPts val="0"/>
              </a:spcBef>
              <a:spcAft>
                <a:spcPts val="300"/>
              </a:spcAft>
            </a:pPr>
            <a:r>
              <a:rPr sz="2500" b="1" i="0">
                <a:solidFill>
                  <a:srgbClr val="171717"/>
                </a:solidFill>
                <a:latin typeface="Times New Roman"/>
                <a:ea typeface="Times New Roman"/>
                <a:cs typeface="Times New Roman"/>
              </a:rPr>
              <a:t>Δ = −0.0376 s</a:t>
            </a:r>
            <a:r>
              <a:rPr sz="1950" b="1" i="0" baseline="30000">
                <a:solidFill>
                  <a:srgbClr val="171717"/>
                </a:solidFill>
                <a:latin typeface="Times New Roman"/>
                <a:ea typeface="Times New Roman"/>
                <a:cs typeface="Times New Roman"/>
              </a:rPr>
              <a:t>−1</a:t>
            </a:r>
          </a:p>
        </p:txBody>
      </p:sp>
      <p:sp>
        <p:nvSpPr>
          <p:cNvPr id="18" name="TextBox 17"/>
          <p:cNvSpPr txBox="1"/>
          <p:nvPr/>
        </p:nvSpPr>
        <p:spPr>
          <a:xfrm>
            <a:off x="8430768" y="4261104"/>
            <a:ext cx="3136392" cy="1033271"/>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Độ phân kỳ cục bộ</a:t>
            </a:r>
          </a:p>
          <a:p>
            <a:pPr algn="l">
              <a:lnSpc>
                <a:spcPct val="103000"/>
              </a:lnSpc>
              <a:spcBef>
                <a:spcPts val="0"/>
              </a:spcBef>
              <a:spcAft>
                <a:spcPts val="300"/>
              </a:spcAft>
            </a:pPr>
            <a:r>
              <a:rPr sz="2400" b="0" i="0">
                <a:solidFill>
                  <a:srgbClr val="171717"/>
                </a:solidFill>
                <a:latin typeface="Times New Roman"/>
                <a:ea typeface="Times New Roman"/>
                <a:cs typeface="Times New Roman"/>
              </a:rPr>
              <a:t>ước lượng giảm.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p-value cho biết điều gì?</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p-value đo độ bất thường của dữ liệu nếu H0 đúng, không đo độ lớn hiệu ứng.</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5</a:t>
            </a:r>
          </a:p>
        </p:txBody>
      </p:sp>
      <p:sp>
        <p:nvSpPr>
          <p:cNvPr id="5" name="TextBox 4"/>
          <p:cNvSpPr txBox="1"/>
          <p:nvPr/>
        </p:nvSpPr>
        <p:spPr>
          <a:xfrm>
            <a:off x="704088" y="1298448"/>
            <a:ext cx="10853928" cy="548640"/>
          </a:xfrm>
          <a:prstGeom prst="rect">
            <a:avLst/>
          </a:prstGeom>
          <a:noFill/>
          <a:effectLst/>
        </p:spPr>
        <p:txBody>
          <a:bodyPr wrap="square" lIns="0" rIns="0" tIns="0" bIns="0">
            <a:spAutoFit/>
          </a:bodyPr>
          <a:lstStyle/>
          <a:p>
            <a:pPr algn="l">
              <a:lnSpc>
                <a:spcPct val="103000"/>
              </a:lnSpc>
              <a:spcBef>
                <a:spcPts val="0"/>
              </a:spcBef>
              <a:spcAft>
                <a:spcPts val="300"/>
              </a:spcAft>
            </a:pPr>
            <a:r>
              <a:rPr sz="2600" b="1" i="0">
                <a:solidFill>
                  <a:srgbClr val="171717"/>
                </a:solidFill>
                <a:latin typeface="Times New Roman"/>
                <a:ea typeface="Times New Roman"/>
                <a:cs typeface="Times New Roman"/>
              </a:rPr>
              <a:t>Giả sử H0 đúng: không có khác biệt có hệ thống giữa hai trạng thái.</a:t>
            </a:r>
          </a:p>
        </p:txBody>
      </p:sp>
      <p:sp>
        <p:nvSpPr>
          <p:cNvPr id="6" name="Freeform 5"/>
          <p:cNvSpPr/>
          <p:nvPr/>
        </p:nvSpPr>
        <p:spPr>
          <a:xfrm>
            <a:off x="896112" y="4191610"/>
            <a:ext cx="1442923" cy="352958"/>
          </a:xfrm>
          <a:custGeom>
            <a:avLst/>
            <a:gdLst/>
            <a:ahLst/>
            <a:cxnLst/>
            <a:rect l="l" t="t" r="r" b="b"/>
            <a:pathLst>
              <a:path w="1578" h="386">
                <a:moveTo>
                  <a:pt x="0" y="386"/>
                </a:moveTo>
                <a:lnTo>
                  <a:pt x="0" y="383"/>
                </a:lnTo>
                <a:lnTo>
                  <a:pt x="45" y="382"/>
                </a:lnTo>
                <a:lnTo>
                  <a:pt x="90" y="381"/>
                </a:lnTo>
                <a:lnTo>
                  <a:pt x="135" y="381"/>
                </a:lnTo>
                <a:lnTo>
                  <a:pt x="180" y="380"/>
                </a:lnTo>
                <a:lnTo>
                  <a:pt x="225" y="378"/>
                </a:lnTo>
                <a:lnTo>
                  <a:pt x="271" y="377"/>
                </a:lnTo>
                <a:lnTo>
                  <a:pt x="316" y="375"/>
                </a:lnTo>
                <a:lnTo>
                  <a:pt x="361" y="374"/>
                </a:lnTo>
                <a:lnTo>
                  <a:pt x="406" y="371"/>
                </a:lnTo>
                <a:lnTo>
                  <a:pt x="451" y="369"/>
                </a:lnTo>
                <a:lnTo>
                  <a:pt x="496" y="366"/>
                </a:lnTo>
                <a:lnTo>
                  <a:pt x="541" y="363"/>
                </a:lnTo>
                <a:lnTo>
                  <a:pt x="586" y="359"/>
                </a:lnTo>
                <a:lnTo>
                  <a:pt x="631" y="355"/>
                </a:lnTo>
                <a:lnTo>
                  <a:pt x="676" y="350"/>
                </a:lnTo>
                <a:lnTo>
                  <a:pt x="721" y="344"/>
                </a:lnTo>
                <a:lnTo>
                  <a:pt x="767" y="338"/>
                </a:lnTo>
                <a:lnTo>
                  <a:pt x="812" y="331"/>
                </a:lnTo>
                <a:lnTo>
                  <a:pt x="857" y="323"/>
                </a:lnTo>
                <a:lnTo>
                  <a:pt x="902" y="314"/>
                </a:lnTo>
                <a:lnTo>
                  <a:pt x="947" y="304"/>
                </a:lnTo>
                <a:lnTo>
                  <a:pt x="992" y="293"/>
                </a:lnTo>
                <a:lnTo>
                  <a:pt x="1037" y="280"/>
                </a:lnTo>
                <a:lnTo>
                  <a:pt x="1082" y="266"/>
                </a:lnTo>
                <a:lnTo>
                  <a:pt x="1127" y="251"/>
                </a:lnTo>
                <a:lnTo>
                  <a:pt x="1172" y="235"/>
                </a:lnTo>
                <a:lnTo>
                  <a:pt x="1218" y="216"/>
                </a:lnTo>
                <a:lnTo>
                  <a:pt x="1263" y="196"/>
                </a:lnTo>
                <a:lnTo>
                  <a:pt x="1308" y="174"/>
                </a:lnTo>
                <a:lnTo>
                  <a:pt x="1353" y="151"/>
                </a:lnTo>
                <a:lnTo>
                  <a:pt x="1398" y="125"/>
                </a:lnTo>
                <a:lnTo>
                  <a:pt x="1443" y="97"/>
                </a:lnTo>
                <a:lnTo>
                  <a:pt x="1488" y="67"/>
                </a:lnTo>
                <a:lnTo>
                  <a:pt x="1533" y="34"/>
                </a:lnTo>
                <a:lnTo>
                  <a:pt x="1578" y="0"/>
                </a:lnTo>
                <a:lnTo>
                  <a:pt x="1578" y="386"/>
                </a:lnTo>
                <a:close/>
              </a:path>
            </a:pathLst>
          </a:custGeom>
          <a:solidFill>
            <a:srgbClr val="FFF1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Freeform 6"/>
          <p:cNvSpPr/>
          <p:nvPr/>
        </p:nvSpPr>
        <p:spPr>
          <a:xfrm>
            <a:off x="5323637" y="4191610"/>
            <a:ext cx="1442923" cy="352958"/>
          </a:xfrm>
          <a:custGeom>
            <a:avLst/>
            <a:gdLst/>
            <a:ahLst/>
            <a:cxnLst/>
            <a:rect l="l" t="t" r="r" b="b"/>
            <a:pathLst>
              <a:path w="1578" h="386">
                <a:moveTo>
                  <a:pt x="0" y="386"/>
                </a:moveTo>
                <a:lnTo>
                  <a:pt x="0" y="0"/>
                </a:lnTo>
                <a:lnTo>
                  <a:pt x="45" y="34"/>
                </a:lnTo>
                <a:lnTo>
                  <a:pt x="90" y="67"/>
                </a:lnTo>
                <a:lnTo>
                  <a:pt x="135" y="97"/>
                </a:lnTo>
                <a:lnTo>
                  <a:pt x="180" y="125"/>
                </a:lnTo>
                <a:lnTo>
                  <a:pt x="225" y="151"/>
                </a:lnTo>
                <a:lnTo>
                  <a:pt x="270" y="174"/>
                </a:lnTo>
                <a:lnTo>
                  <a:pt x="315" y="196"/>
                </a:lnTo>
                <a:lnTo>
                  <a:pt x="360" y="216"/>
                </a:lnTo>
                <a:lnTo>
                  <a:pt x="406" y="235"/>
                </a:lnTo>
                <a:lnTo>
                  <a:pt x="451" y="251"/>
                </a:lnTo>
                <a:lnTo>
                  <a:pt x="496" y="266"/>
                </a:lnTo>
                <a:lnTo>
                  <a:pt x="541" y="280"/>
                </a:lnTo>
                <a:lnTo>
                  <a:pt x="586" y="293"/>
                </a:lnTo>
                <a:lnTo>
                  <a:pt x="631" y="304"/>
                </a:lnTo>
                <a:lnTo>
                  <a:pt x="676" y="314"/>
                </a:lnTo>
                <a:lnTo>
                  <a:pt x="721" y="323"/>
                </a:lnTo>
                <a:lnTo>
                  <a:pt x="766" y="331"/>
                </a:lnTo>
                <a:lnTo>
                  <a:pt x="811" y="338"/>
                </a:lnTo>
                <a:lnTo>
                  <a:pt x="857" y="344"/>
                </a:lnTo>
                <a:lnTo>
                  <a:pt x="902" y="350"/>
                </a:lnTo>
                <a:lnTo>
                  <a:pt x="947" y="355"/>
                </a:lnTo>
                <a:lnTo>
                  <a:pt x="992" y="359"/>
                </a:lnTo>
                <a:lnTo>
                  <a:pt x="1037" y="363"/>
                </a:lnTo>
                <a:lnTo>
                  <a:pt x="1082" y="366"/>
                </a:lnTo>
                <a:lnTo>
                  <a:pt x="1127" y="369"/>
                </a:lnTo>
                <a:lnTo>
                  <a:pt x="1172" y="371"/>
                </a:lnTo>
                <a:lnTo>
                  <a:pt x="1217" y="374"/>
                </a:lnTo>
                <a:lnTo>
                  <a:pt x="1262" y="375"/>
                </a:lnTo>
                <a:lnTo>
                  <a:pt x="1307" y="377"/>
                </a:lnTo>
                <a:lnTo>
                  <a:pt x="1353" y="378"/>
                </a:lnTo>
                <a:lnTo>
                  <a:pt x="1398" y="380"/>
                </a:lnTo>
                <a:lnTo>
                  <a:pt x="1443" y="381"/>
                </a:lnTo>
                <a:lnTo>
                  <a:pt x="1488" y="381"/>
                </a:lnTo>
                <a:lnTo>
                  <a:pt x="1533" y="382"/>
                </a:lnTo>
                <a:lnTo>
                  <a:pt x="1578" y="383"/>
                </a:lnTo>
                <a:lnTo>
                  <a:pt x="1578" y="386"/>
                </a:lnTo>
                <a:close/>
              </a:path>
            </a:pathLst>
          </a:custGeom>
          <a:solidFill>
            <a:srgbClr val="FFF1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Connector 7"/>
          <p:cNvCxnSpPr/>
          <p:nvPr/>
        </p:nvCxnSpPr>
        <p:spPr>
          <a:xfrm flipV="1">
            <a:off x="896112" y="4540832"/>
            <a:ext cx="58704" cy="84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 name="Connector 8"/>
          <p:cNvCxnSpPr/>
          <p:nvPr/>
        </p:nvCxnSpPr>
        <p:spPr>
          <a:xfrm flipV="1">
            <a:off x="954816" y="4539764"/>
            <a:ext cx="58704" cy="106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 name="Connector 9"/>
          <p:cNvCxnSpPr/>
          <p:nvPr/>
        </p:nvCxnSpPr>
        <p:spPr>
          <a:xfrm flipV="1">
            <a:off x="1013520" y="4538423"/>
            <a:ext cx="58705" cy="134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1" name="Connector 10"/>
          <p:cNvCxnSpPr/>
          <p:nvPr/>
        </p:nvCxnSpPr>
        <p:spPr>
          <a:xfrm flipV="1">
            <a:off x="1072225" y="4536747"/>
            <a:ext cx="58704" cy="167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V="1">
            <a:off x="1130929" y="4534667"/>
            <a:ext cx="58705" cy="208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189634" y="4532098"/>
            <a:ext cx="58704" cy="256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flipV="1">
            <a:off x="1248338" y="4528944"/>
            <a:ext cx="58705" cy="3154"/>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flipV="1">
            <a:off x="1307043" y="4525094"/>
            <a:ext cx="58704" cy="385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V="1">
            <a:off x="1365747" y="4520419"/>
            <a:ext cx="58705" cy="467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424452" y="4514778"/>
            <a:ext cx="58704" cy="564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1483156" y="4508008"/>
            <a:ext cx="58705" cy="677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1541861" y="4499933"/>
            <a:ext cx="58704" cy="807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1600565" y="4490355"/>
            <a:ext cx="58705" cy="957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1659270" y="4479062"/>
            <a:ext cx="58704" cy="11293"/>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1717974" y="4465827"/>
            <a:ext cx="58705" cy="1323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1776679" y="4450406"/>
            <a:ext cx="58704" cy="1542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1835383" y="4432548"/>
            <a:ext cx="58705" cy="1785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1894088" y="4411992"/>
            <a:ext cx="58704" cy="2055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1952792" y="4388475"/>
            <a:ext cx="58705" cy="2351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011497" y="4361736"/>
            <a:ext cx="58704" cy="2673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V="1">
            <a:off x="2070201" y="4331525"/>
            <a:ext cx="58705" cy="3021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2128906" y="4297606"/>
            <a:ext cx="58704" cy="3391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flipV="1">
            <a:off x="2187610" y="4259765"/>
            <a:ext cx="58705" cy="3784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V="1">
            <a:off x="2246315" y="4217826"/>
            <a:ext cx="58704" cy="4193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V="1">
            <a:off x="2305019" y="4171648"/>
            <a:ext cx="58705" cy="4617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V="1">
            <a:off x="2363724" y="4121145"/>
            <a:ext cx="58704" cy="50503"/>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422428" y="4066288"/>
            <a:ext cx="58704" cy="5485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481132" y="4007118"/>
            <a:ext cx="58705" cy="5917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539837" y="3943751"/>
            <a:ext cx="58704" cy="6336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V="1">
            <a:off x="2598541" y="3876384"/>
            <a:ext cx="58705" cy="6736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flipV="1">
            <a:off x="2657246" y="3805307"/>
            <a:ext cx="58704" cy="7107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flipV="1">
            <a:off x="2715950" y="3730898"/>
            <a:ext cx="58705" cy="7440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flipV="1">
            <a:off x="2774655" y="3653630"/>
            <a:ext cx="58704" cy="7726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flipV="1">
            <a:off x="2833359" y="3574069"/>
            <a:ext cx="58705" cy="7956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V="1">
            <a:off x="2892064" y="3492868"/>
            <a:ext cx="58704" cy="8120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flipV="1">
            <a:off x="2950768" y="3410767"/>
            <a:ext cx="58705" cy="8210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V="1">
            <a:off x="3009473" y="3328577"/>
            <a:ext cx="58704" cy="8219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V="1">
            <a:off x="3068177" y="3247172"/>
            <a:ext cx="58705" cy="8140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V="1">
            <a:off x="3126882" y="3167474"/>
            <a:ext cx="58704" cy="7969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flipV="1">
            <a:off x="3185586" y="3090439"/>
            <a:ext cx="58705" cy="7703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flipV="1">
            <a:off x="3244291" y="3017033"/>
            <a:ext cx="58704" cy="7340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flipV="1">
            <a:off x="3302995" y="2948219"/>
            <a:ext cx="58705" cy="68814"/>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3361700" y="2884930"/>
            <a:ext cx="58704" cy="6328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flipV="1">
            <a:off x="3420404" y="2828054"/>
            <a:ext cx="58705" cy="5687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3479109" y="2778409"/>
            <a:ext cx="58704" cy="4964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V="1">
            <a:off x="3537813" y="2736723"/>
            <a:ext cx="58705" cy="4168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V="1">
            <a:off x="3596518" y="2703622"/>
            <a:ext cx="58704" cy="3310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flipV="1">
            <a:off x="3655222" y="2679608"/>
            <a:ext cx="58705" cy="24014"/>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flipV="1">
            <a:off x="3713927" y="2665050"/>
            <a:ext cx="58704" cy="1455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flipV="1">
            <a:off x="3772631" y="2660172"/>
            <a:ext cx="58704" cy="487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a:off x="3831335" y="2660172"/>
            <a:ext cx="58705" cy="487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a:off x="3890040" y="2665050"/>
            <a:ext cx="58704" cy="1455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3948744" y="2679608"/>
            <a:ext cx="58705" cy="24014"/>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4007449" y="2703622"/>
            <a:ext cx="58704" cy="3310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4066153" y="2736723"/>
            <a:ext cx="58705" cy="4168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4124858" y="2778409"/>
            <a:ext cx="58704" cy="4964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4183562" y="2828054"/>
            <a:ext cx="58705" cy="5687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a:off x="4242267" y="2884930"/>
            <a:ext cx="58704" cy="6328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a:off x="4300971" y="2948219"/>
            <a:ext cx="58705" cy="68814"/>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a:off x="4359676" y="3017033"/>
            <a:ext cx="58704" cy="7340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a:off x="4418380" y="3090439"/>
            <a:ext cx="58705" cy="7703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a:off x="4477085" y="3167474"/>
            <a:ext cx="58704" cy="7969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4535789" y="3247172"/>
            <a:ext cx="58705" cy="8140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4594494" y="3328577"/>
            <a:ext cx="58704" cy="8219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4653198" y="3410767"/>
            <a:ext cx="58705" cy="8210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4711903" y="3492868"/>
            <a:ext cx="58704" cy="8120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4770607" y="3574069"/>
            <a:ext cx="58705" cy="7956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4829312" y="3653630"/>
            <a:ext cx="58704" cy="7726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888016" y="3730898"/>
            <a:ext cx="58705" cy="7440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46721" y="3805307"/>
            <a:ext cx="58704" cy="7107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5005425" y="3876384"/>
            <a:ext cx="58705" cy="6736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5064130" y="3943751"/>
            <a:ext cx="58704" cy="6336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5122834" y="4007118"/>
            <a:ext cx="58705" cy="5917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a:off x="5181539" y="4066288"/>
            <a:ext cx="58704" cy="5485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5240243" y="4121145"/>
            <a:ext cx="58705" cy="50503"/>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5298948" y="4171648"/>
            <a:ext cx="58704" cy="4617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5357652" y="4217826"/>
            <a:ext cx="58704" cy="4193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5416356" y="4259765"/>
            <a:ext cx="58705" cy="3784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6" name="Connector 85"/>
          <p:cNvCxnSpPr/>
          <p:nvPr/>
        </p:nvCxnSpPr>
        <p:spPr>
          <a:xfrm>
            <a:off x="5475061" y="4297606"/>
            <a:ext cx="58704" cy="3391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7" name="Connector 86"/>
          <p:cNvCxnSpPr/>
          <p:nvPr/>
        </p:nvCxnSpPr>
        <p:spPr>
          <a:xfrm>
            <a:off x="5533765" y="4331525"/>
            <a:ext cx="58705" cy="3021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8" name="Connector 87"/>
          <p:cNvCxnSpPr/>
          <p:nvPr/>
        </p:nvCxnSpPr>
        <p:spPr>
          <a:xfrm>
            <a:off x="5592470" y="4361736"/>
            <a:ext cx="58704" cy="2673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9" name="Connector 88"/>
          <p:cNvCxnSpPr/>
          <p:nvPr/>
        </p:nvCxnSpPr>
        <p:spPr>
          <a:xfrm>
            <a:off x="5651174" y="4388475"/>
            <a:ext cx="58705" cy="23517"/>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5709879" y="4411992"/>
            <a:ext cx="58704" cy="2055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5768583" y="4432548"/>
            <a:ext cx="58705" cy="1785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5827288" y="4450406"/>
            <a:ext cx="58704" cy="1542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3" name="Connector 92"/>
          <p:cNvCxnSpPr/>
          <p:nvPr/>
        </p:nvCxnSpPr>
        <p:spPr>
          <a:xfrm>
            <a:off x="5885992" y="4465827"/>
            <a:ext cx="58705" cy="1323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4" name="Connector 93"/>
          <p:cNvCxnSpPr/>
          <p:nvPr/>
        </p:nvCxnSpPr>
        <p:spPr>
          <a:xfrm>
            <a:off x="5944697" y="4479062"/>
            <a:ext cx="58704" cy="11293"/>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6003401" y="4490355"/>
            <a:ext cx="58705" cy="957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a:off x="6062106" y="4499933"/>
            <a:ext cx="58704" cy="807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a:off x="6120810" y="4508008"/>
            <a:ext cx="58705" cy="677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8" name="Connector 97"/>
          <p:cNvCxnSpPr/>
          <p:nvPr/>
        </p:nvCxnSpPr>
        <p:spPr>
          <a:xfrm>
            <a:off x="6179515" y="4514778"/>
            <a:ext cx="58704" cy="564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9" name="Connector 98"/>
          <p:cNvCxnSpPr/>
          <p:nvPr/>
        </p:nvCxnSpPr>
        <p:spPr>
          <a:xfrm>
            <a:off x="6238219" y="4520419"/>
            <a:ext cx="58705" cy="467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0" name="Connector 99"/>
          <p:cNvCxnSpPr/>
          <p:nvPr/>
        </p:nvCxnSpPr>
        <p:spPr>
          <a:xfrm>
            <a:off x="6296924" y="4525094"/>
            <a:ext cx="58704" cy="385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1" name="Connector 100"/>
          <p:cNvCxnSpPr/>
          <p:nvPr/>
        </p:nvCxnSpPr>
        <p:spPr>
          <a:xfrm>
            <a:off x="6355628" y="4528944"/>
            <a:ext cx="58705" cy="3154"/>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2" name="Connector 101"/>
          <p:cNvCxnSpPr/>
          <p:nvPr/>
        </p:nvCxnSpPr>
        <p:spPr>
          <a:xfrm>
            <a:off x="6414333" y="4532098"/>
            <a:ext cx="58704" cy="2569"/>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3" name="Connector 102"/>
          <p:cNvCxnSpPr/>
          <p:nvPr/>
        </p:nvCxnSpPr>
        <p:spPr>
          <a:xfrm>
            <a:off x="6473037" y="4534667"/>
            <a:ext cx="58705" cy="2080"/>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4" name="Connector 103"/>
          <p:cNvCxnSpPr/>
          <p:nvPr/>
        </p:nvCxnSpPr>
        <p:spPr>
          <a:xfrm>
            <a:off x="6531742" y="4536747"/>
            <a:ext cx="58704" cy="1676"/>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5" name="Connector 104"/>
          <p:cNvCxnSpPr/>
          <p:nvPr/>
        </p:nvCxnSpPr>
        <p:spPr>
          <a:xfrm>
            <a:off x="6590446" y="4538423"/>
            <a:ext cx="58705" cy="1341"/>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6" name="Connector 105"/>
          <p:cNvCxnSpPr/>
          <p:nvPr/>
        </p:nvCxnSpPr>
        <p:spPr>
          <a:xfrm>
            <a:off x="6649151" y="4539764"/>
            <a:ext cx="58704" cy="1068"/>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7" name="Connector 106"/>
          <p:cNvCxnSpPr/>
          <p:nvPr/>
        </p:nvCxnSpPr>
        <p:spPr>
          <a:xfrm>
            <a:off x="6707855" y="4540832"/>
            <a:ext cx="58705" cy="845"/>
          </a:xfrm>
          <a:prstGeom prst="line">
            <a:avLst/>
          </a:prstGeom>
          <a:ln w="2286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8" name="Connector 107"/>
          <p:cNvCxnSpPr/>
          <p:nvPr/>
        </p:nvCxnSpPr>
        <p:spPr>
          <a:xfrm>
            <a:off x="896112" y="4544568"/>
            <a:ext cx="5870448" cy="0"/>
          </a:xfrm>
          <a:prstGeom prst="line">
            <a:avLst/>
          </a:prstGeom>
          <a:ln w="1270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109" name="Connector 108"/>
          <p:cNvCxnSpPr/>
          <p:nvPr/>
        </p:nvCxnSpPr>
        <p:spPr>
          <a:xfrm flipV="1">
            <a:off x="2339263" y="4191411"/>
            <a:ext cx="0" cy="353157"/>
          </a:xfrm>
          <a:prstGeom prst="line">
            <a:avLst/>
          </a:prstGeom>
          <a:ln w="21590">
            <a:solidFill>
              <a:srgbClr val="FF7F0E"/>
            </a:solidFill>
          </a:ln>
          <a:effectLst/>
        </p:spPr>
        <p:style>
          <a:lnRef idx="2">
            <a:schemeClr val="accent1"/>
          </a:lnRef>
          <a:fillRef idx="0">
            <a:schemeClr val="accent1"/>
          </a:fillRef>
          <a:effectRef idx="0">
            <a:schemeClr val="accent1"/>
          </a:effectRef>
          <a:fontRef idx="minor">
            <a:schemeClr val="tx1"/>
          </a:fontRef>
        </p:style>
      </p:cxnSp>
      <p:cxnSp>
        <p:nvCxnSpPr>
          <p:cNvPr id="110" name="Connector 109"/>
          <p:cNvCxnSpPr/>
          <p:nvPr/>
        </p:nvCxnSpPr>
        <p:spPr>
          <a:xfrm flipV="1">
            <a:off x="5323408" y="4191411"/>
            <a:ext cx="0" cy="353157"/>
          </a:xfrm>
          <a:prstGeom prst="line">
            <a:avLst/>
          </a:prstGeom>
          <a:ln w="21590">
            <a:solidFill>
              <a:srgbClr val="FF7F0E"/>
            </a:solidFill>
          </a:ln>
          <a:effectLst/>
        </p:spPr>
        <p:style>
          <a:lnRef idx="2">
            <a:schemeClr val="accent1"/>
          </a:lnRef>
          <a:fillRef idx="0">
            <a:schemeClr val="accent1"/>
          </a:fillRef>
          <a:effectRef idx="0">
            <a:schemeClr val="accent1"/>
          </a:effectRef>
          <a:fontRef idx="minor">
            <a:schemeClr val="tx1"/>
          </a:fontRef>
        </p:style>
      </p:cxnSp>
      <p:sp>
        <p:nvSpPr>
          <p:cNvPr id="111" name="TextBox 110"/>
          <p:cNvSpPr txBox="1"/>
          <p:nvPr/>
        </p:nvSpPr>
        <p:spPr>
          <a:xfrm>
            <a:off x="896112" y="1975104"/>
            <a:ext cx="5870448" cy="393192"/>
          </a:xfrm>
          <a:prstGeom prst="rect">
            <a:avLst/>
          </a:prstGeom>
          <a:noFill/>
          <a:effectLst/>
        </p:spPr>
        <p:txBody>
          <a:bodyPr wrap="square" lIns="0" rIns="0" tIns="0" bIns="0">
            <a:spAutoFit/>
          </a:bodyPr>
          <a:lstStyle/>
          <a:p>
            <a:pPr algn="ctr">
              <a:lnSpc>
                <a:spcPct val="103000"/>
              </a:lnSpc>
              <a:spcBef>
                <a:spcPts val="0"/>
              </a:spcBef>
              <a:spcAft>
                <a:spcPts val="300"/>
              </a:spcAft>
            </a:pPr>
            <a:r>
              <a:rPr sz="2100" b="1" i="0">
                <a:solidFill>
                  <a:srgbClr val="171717"/>
                </a:solidFill>
                <a:latin typeface="Times New Roman"/>
                <a:ea typeface="Times New Roman"/>
                <a:cs typeface="Times New Roman"/>
              </a:rPr>
              <a:t>Hai vùng đuôi: kết quả ít nhất cực đoan như đã quan sát</a:t>
            </a:r>
          </a:p>
        </p:txBody>
      </p:sp>
      <p:sp>
        <p:nvSpPr>
          <p:cNvPr id="112" name="TextBox 111"/>
          <p:cNvSpPr txBox="1"/>
          <p:nvPr/>
        </p:nvSpPr>
        <p:spPr>
          <a:xfrm>
            <a:off x="1589455" y="4654296"/>
            <a:ext cx="1499616" cy="310896"/>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−|T quan sát|</a:t>
            </a:r>
          </a:p>
        </p:txBody>
      </p:sp>
      <p:sp>
        <p:nvSpPr>
          <p:cNvPr id="113" name="TextBox 112"/>
          <p:cNvSpPr txBox="1"/>
          <p:nvPr/>
        </p:nvSpPr>
        <p:spPr>
          <a:xfrm>
            <a:off x="4573600" y="4654296"/>
            <a:ext cx="1499616" cy="310896"/>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|T quan sát|</a:t>
            </a:r>
          </a:p>
        </p:txBody>
      </p:sp>
      <p:sp>
        <p:nvSpPr>
          <p:cNvPr id="114" name="TextBox 113"/>
          <p:cNvSpPr txBox="1"/>
          <p:nvPr/>
        </p:nvSpPr>
        <p:spPr>
          <a:xfrm>
            <a:off x="2862072" y="3282696"/>
            <a:ext cx="1938528" cy="356616"/>
          </a:xfrm>
          <a:prstGeom prst="rect">
            <a:avLst/>
          </a:prstGeom>
          <a:noFill/>
          <a:effectLst/>
        </p:spPr>
        <p:txBody>
          <a:bodyPr wrap="square" lIns="0" rIns="0" tIns="0" bIns="0">
            <a:spAutoFit/>
          </a:bodyPr>
          <a:lstStyle/>
          <a:p>
            <a:pPr algn="ctr">
              <a:lnSpc>
                <a:spcPct val="103000"/>
              </a:lnSpc>
              <a:spcBef>
                <a:spcPts val="0"/>
              </a:spcBef>
              <a:spcAft>
                <a:spcPts val="300"/>
              </a:spcAft>
            </a:pPr>
            <a:r>
              <a:rPr sz="2100" b="0" i="0">
                <a:solidFill>
                  <a:srgbClr val="777777"/>
                </a:solidFill>
                <a:latin typeface="Times New Roman"/>
                <a:ea typeface="Times New Roman"/>
                <a:cs typeface="Times New Roman"/>
              </a:rPr>
              <a:t>Vùng trung tâm</a:t>
            </a:r>
          </a:p>
        </p:txBody>
      </p:sp>
      <p:sp>
        <p:nvSpPr>
          <p:cNvPr id="115" name="TextBox 114"/>
          <p:cNvSpPr txBox="1"/>
          <p:nvPr/>
        </p:nvSpPr>
        <p:spPr>
          <a:xfrm>
            <a:off x="886968" y="5084064"/>
            <a:ext cx="5916168" cy="420624"/>
          </a:xfrm>
          <a:prstGeom prst="rect">
            <a:avLst/>
          </a:prstGeom>
          <a:noFill/>
          <a:effectLst/>
        </p:spPr>
        <p:txBody>
          <a:bodyPr wrap="square" lIns="0" rIns="0" tIns="0" bIns="0">
            <a:spAutoFit/>
          </a:bodyPr>
          <a:lstStyle/>
          <a:p>
            <a:pPr algn="ctr">
              <a:lnSpc>
                <a:spcPct val="103000"/>
              </a:lnSpc>
              <a:spcBef>
                <a:spcPts val="0"/>
              </a:spcBef>
              <a:spcAft>
                <a:spcPts val="300"/>
              </a:spcAft>
            </a:pPr>
            <a:r>
              <a:rPr sz="2200" b="0" i="0">
                <a:solidFill>
                  <a:srgbClr val="171717"/>
                </a:solidFill>
                <a:latin typeface="Times New Roman"/>
                <a:ea typeface="Times New Roman"/>
                <a:cs typeface="Times New Roman"/>
              </a:rPr>
              <a:t>p = P(độ cực đoan ≥ mức quan sát | H0)</a:t>
            </a:r>
          </a:p>
        </p:txBody>
      </p:sp>
      <p:sp>
        <p:nvSpPr>
          <p:cNvPr id="116" name="TextBox 115"/>
          <p:cNvSpPr txBox="1"/>
          <p:nvPr/>
        </p:nvSpPr>
        <p:spPr>
          <a:xfrm>
            <a:off x="886968" y="5605272"/>
            <a:ext cx="5916168" cy="320040"/>
          </a:xfrm>
          <a:prstGeom prst="rect">
            <a:avLst/>
          </a:prstGeom>
          <a:noFill/>
          <a:effectLst/>
        </p:spPr>
        <p:txBody>
          <a:bodyPr wrap="square" lIns="0" rIns="0" tIns="0" bIns="0">
            <a:spAutoFit/>
          </a:bodyPr>
          <a:lstStyle/>
          <a:p>
            <a:pPr algn="ctr">
              <a:lnSpc>
                <a:spcPct val="103000"/>
              </a:lnSpc>
              <a:spcBef>
                <a:spcPts val="0"/>
              </a:spcBef>
              <a:spcAft>
                <a:spcPts val="300"/>
              </a:spcAft>
            </a:pPr>
            <a:r>
              <a:rPr sz="1800" b="0" i="0">
                <a:solidFill>
                  <a:srgbClr val="777777"/>
                </a:solidFill>
                <a:latin typeface="Times New Roman"/>
                <a:ea typeface="Times New Roman"/>
                <a:cs typeface="Times New Roman"/>
              </a:rPr>
              <a:t>Sơ đồ minh hoạ; không phải phân bố Wilcoxon.</a:t>
            </a:r>
          </a:p>
        </p:txBody>
      </p:sp>
      <p:sp>
        <p:nvSpPr>
          <p:cNvPr id="117" name="TextBox 116"/>
          <p:cNvSpPr txBox="1"/>
          <p:nvPr/>
        </p:nvSpPr>
        <p:spPr>
          <a:xfrm>
            <a:off x="7360920" y="2048256"/>
            <a:ext cx="4123944" cy="960120"/>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p nhỏ: dữ liệu khó xảy ra nếu H0 đúng.</a:t>
            </a:r>
          </a:p>
        </p:txBody>
      </p:sp>
      <p:sp>
        <p:nvSpPr>
          <p:cNvPr id="118" name="TextBox 117"/>
          <p:cNvSpPr txBox="1"/>
          <p:nvPr/>
        </p:nvSpPr>
        <p:spPr>
          <a:xfrm>
            <a:off x="7360920" y="3026664"/>
            <a:ext cx="4123944" cy="960120"/>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p không phải xác suất H0 đúng.</a:t>
            </a:r>
          </a:p>
        </p:txBody>
      </p:sp>
      <p:sp>
        <p:nvSpPr>
          <p:cNvPr id="119" name="TextBox 118"/>
          <p:cNvSpPr txBox="1"/>
          <p:nvPr/>
        </p:nvSpPr>
        <p:spPr>
          <a:xfrm>
            <a:off x="7360920" y="4005072"/>
            <a:ext cx="4123944" cy="960120"/>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p không phải kích thước hiệu ứng.</a:t>
            </a:r>
          </a:p>
        </p:txBody>
      </p:sp>
      <p:sp>
        <p:nvSpPr>
          <p:cNvPr id="120" name="TextBox 119"/>
          <p:cNvSpPr txBox="1"/>
          <p:nvPr/>
        </p:nvSpPr>
        <p:spPr>
          <a:xfrm>
            <a:off x="7360920" y="4965192"/>
            <a:ext cx="4123944" cy="722376"/>
          </a:xfrm>
          <a:prstGeom prst="rect">
            <a:avLst/>
          </a:prstGeom>
          <a:noFill/>
          <a:effectLst/>
        </p:spPr>
        <p:txBody>
          <a:bodyPr wrap="square" lIns="0" rIns="0" tIns="0" bIns="0">
            <a:spAutoFit/>
          </a:bodyPr>
          <a:lstStyle/>
          <a:p>
            <a:pPr algn="l">
              <a:lnSpc>
                <a:spcPct val="103000"/>
              </a:lnSpc>
              <a:spcBef>
                <a:spcPts val="0"/>
              </a:spcBef>
              <a:spcAft>
                <a:spcPts val="300"/>
              </a:spcAft>
            </a:pPr>
            <a:r>
              <a:rPr sz="2100" b="0" i="0">
                <a:solidFill>
                  <a:srgbClr val="171717"/>
                </a:solidFill>
                <a:latin typeface="Times New Roman"/>
                <a:ea typeface="Times New Roman"/>
                <a:cs typeface="Times New Roman"/>
              </a:rPr>
              <a:t>Trong nghiên cứu: Wilcoxon hai phía trên các chênh lệch giữa phiên ghi.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400" b="0" i="1">
                <a:solidFill>
                  <a:srgbClr val="777777"/>
                </a:solidFill>
                <a:latin typeface="Times New Roman"/>
                <a:ea typeface="Times New Roman"/>
                <a:cs typeface="Times New Roman"/>
              </a:rPr>
              <a:t>Từ p-value đến q-value: vì sao cần BH-FDR?</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qBH xét kết quả sau khi đã tính đến việc kiểm định nhiều chỉ số cùng lúc.</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6</a:t>
            </a:r>
          </a:p>
        </p:txBody>
      </p:sp>
      <p:sp>
        <p:nvSpPr>
          <p:cNvPr id="5" name="TextBox 4"/>
          <p:cNvSpPr txBox="1"/>
          <p:nvPr/>
        </p:nvSpPr>
        <p:spPr>
          <a:xfrm>
            <a:off x="685800" y="1289304"/>
            <a:ext cx="5504688" cy="832104"/>
          </a:xfrm>
          <a:prstGeom prst="rect">
            <a:avLst/>
          </a:prstGeom>
          <a:noFill/>
          <a:effectLst/>
        </p:spPr>
        <p:txBody>
          <a:bodyPr wrap="square" lIns="0" rIns="0" tIns="0" bIns="0">
            <a:spAutoFit/>
          </a:bodyPr>
          <a:lstStyle/>
          <a:p>
            <a:pPr algn="l">
              <a:lnSpc>
                <a:spcPct val="103000"/>
              </a:lnSpc>
              <a:spcBef>
                <a:spcPts val="0"/>
              </a:spcBef>
              <a:spcAft>
                <a:spcPts val="300"/>
              </a:spcAft>
            </a:pPr>
            <a:r>
              <a:rPr sz="2600" b="1" i="0">
                <a:solidFill>
                  <a:srgbClr val="171717"/>
                </a:solidFill>
                <a:latin typeface="Times New Roman"/>
                <a:ea typeface="Times New Roman"/>
                <a:cs typeface="Times New Roman"/>
              </a:rPr>
              <a:t>Kiểm định nhiều chỉ số làm tăng nguy cơ có phát hiện sai.</a:t>
            </a:r>
          </a:p>
        </p:txBody>
      </p:sp>
      <p:sp>
        <p:nvSpPr>
          <p:cNvPr id="6" name="Rectangle 5"/>
          <p:cNvSpPr/>
          <p:nvPr/>
        </p:nvSpPr>
        <p:spPr>
          <a:xfrm>
            <a:off x="822960" y="2377440"/>
            <a:ext cx="4956048" cy="557784"/>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960120" y="2487168"/>
            <a:ext cx="4681728" cy="356616"/>
          </a:xfrm>
          <a:prstGeom prst="rect">
            <a:avLst/>
          </a:prstGeom>
          <a:noFill/>
          <a:effectLst/>
        </p:spPr>
        <p:txBody>
          <a:bodyPr wrap="square" lIns="0" rIns="0" tIns="0" bIns="0">
            <a:spAutoFit/>
          </a:bodyPr>
          <a:lstStyle/>
          <a:p>
            <a:pPr algn="ctr">
              <a:lnSpc>
                <a:spcPct val="103000"/>
              </a:lnSpc>
              <a:spcBef>
                <a:spcPts val="0"/>
              </a:spcBef>
              <a:spcAft>
                <a:spcPts val="300"/>
              </a:spcAft>
            </a:pPr>
            <a:r>
              <a:rPr sz="2400" b="1" i="0">
                <a:solidFill>
                  <a:srgbClr val="171717"/>
                </a:solidFill>
                <a:latin typeface="Times New Roman"/>
                <a:ea typeface="Times New Roman"/>
                <a:cs typeface="Times New Roman"/>
              </a:rPr>
              <a:t>7 p-values</a:t>
            </a:r>
          </a:p>
        </p:txBody>
      </p:sp>
      <p:sp>
        <p:nvSpPr>
          <p:cNvPr id="8" name="TextBox 7"/>
          <p:cNvSpPr txBox="1"/>
          <p:nvPr/>
        </p:nvSpPr>
        <p:spPr>
          <a:xfrm>
            <a:off x="3099816" y="2990088"/>
            <a:ext cx="320040" cy="256032"/>
          </a:xfrm>
          <a:prstGeom prst="rect">
            <a:avLst/>
          </a:prstGeom>
          <a:noFill/>
          <a:effectLst/>
        </p:spPr>
        <p:txBody>
          <a:bodyPr wrap="square" lIns="0" rIns="0" tIns="0" bIns="0">
            <a:spAutoFit/>
          </a:bodyPr>
          <a:lstStyle/>
          <a:p>
            <a:pPr algn="ctr">
              <a:lnSpc>
                <a:spcPct val="103000"/>
              </a:lnSpc>
              <a:spcBef>
                <a:spcPts val="0"/>
              </a:spcBef>
              <a:spcAft>
                <a:spcPts val="300"/>
              </a:spcAft>
            </a:pPr>
            <a:r>
              <a:rPr sz="2300" b="0" i="0">
                <a:solidFill>
                  <a:srgbClr val="171717"/>
                </a:solidFill>
                <a:latin typeface="Times New Roman"/>
                <a:ea typeface="Times New Roman"/>
                <a:cs typeface="Times New Roman"/>
              </a:rPr>
              <a:t>↓</a:t>
            </a:r>
          </a:p>
        </p:txBody>
      </p:sp>
      <p:sp>
        <p:nvSpPr>
          <p:cNvPr id="9" name="Rectangle 8"/>
          <p:cNvSpPr/>
          <p:nvPr/>
        </p:nvSpPr>
        <p:spPr>
          <a:xfrm>
            <a:off x="822960" y="3264408"/>
            <a:ext cx="4956048" cy="557784"/>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0120" y="3374136"/>
            <a:ext cx="4681728" cy="356616"/>
          </a:xfrm>
          <a:prstGeom prst="rect">
            <a:avLst/>
          </a:prstGeom>
          <a:noFill/>
          <a:effectLst/>
        </p:spPr>
        <p:txBody>
          <a:bodyPr wrap="square" lIns="0" rIns="0" tIns="0" bIns="0">
            <a:spAutoFit/>
          </a:bodyPr>
          <a:lstStyle/>
          <a:p>
            <a:pPr algn="ctr">
              <a:lnSpc>
                <a:spcPct val="103000"/>
              </a:lnSpc>
              <a:spcBef>
                <a:spcPts val="0"/>
              </a:spcBef>
              <a:spcAft>
                <a:spcPts val="300"/>
              </a:spcAft>
            </a:pPr>
            <a:r>
              <a:rPr sz="2400" b="1" i="0">
                <a:solidFill>
                  <a:srgbClr val="171717"/>
                </a:solidFill>
                <a:latin typeface="Times New Roman"/>
                <a:ea typeface="Times New Roman"/>
                <a:cs typeface="Times New Roman"/>
              </a:rPr>
              <a:t>Sắp xếp và hiệu chỉnh BH-FDR</a:t>
            </a:r>
          </a:p>
        </p:txBody>
      </p:sp>
      <p:sp>
        <p:nvSpPr>
          <p:cNvPr id="11" name="TextBox 10"/>
          <p:cNvSpPr txBox="1"/>
          <p:nvPr/>
        </p:nvSpPr>
        <p:spPr>
          <a:xfrm>
            <a:off x="3099816" y="3877056"/>
            <a:ext cx="320040" cy="256032"/>
          </a:xfrm>
          <a:prstGeom prst="rect">
            <a:avLst/>
          </a:prstGeom>
          <a:noFill/>
          <a:effectLst/>
        </p:spPr>
        <p:txBody>
          <a:bodyPr wrap="square" lIns="0" rIns="0" tIns="0" bIns="0">
            <a:spAutoFit/>
          </a:bodyPr>
          <a:lstStyle/>
          <a:p>
            <a:pPr algn="ctr">
              <a:lnSpc>
                <a:spcPct val="103000"/>
              </a:lnSpc>
              <a:spcBef>
                <a:spcPts val="0"/>
              </a:spcBef>
              <a:spcAft>
                <a:spcPts val="300"/>
              </a:spcAft>
            </a:pPr>
            <a:r>
              <a:rPr sz="2300" b="0" i="0">
                <a:solidFill>
                  <a:srgbClr val="171717"/>
                </a:solidFill>
                <a:latin typeface="Times New Roman"/>
                <a:ea typeface="Times New Roman"/>
                <a:cs typeface="Times New Roman"/>
              </a:rPr>
              <a:t>↓</a:t>
            </a:r>
          </a:p>
        </p:txBody>
      </p:sp>
      <p:sp>
        <p:nvSpPr>
          <p:cNvPr id="12" name="Rectangle 11"/>
          <p:cNvSpPr/>
          <p:nvPr/>
        </p:nvSpPr>
        <p:spPr>
          <a:xfrm>
            <a:off x="822960" y="4151376"/>
            <a:ext cx="4956048" cy="557784"/>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960120" y="4261104"/>
            <a:ext cx="4681728" cy="356616"/>
          </a:xfrm>
          <a:prstGeom prst="rect">
            <a:avLst/>
          </a:prstGeom>
          <a:noFill/>
          <a:effectLst/>
        </p:spPr>
        <p:txBody>
          <a:bodyPr wrap="square" lIns="0" rIns="0" tIns="0" bIns="0">
            <a:spAutoFit/>
          </a:bodyPr>
          <a:lstStyle/>
          <a:p>
            <a:pPr algn="ctr">
              <a:lnSpc>
                <a:spcPct val="103000"/>
              </a:lnSpc>
              <a:spcBef>
                <a:spcPts val="0"/>
              </a:spcBef>
              <a:spcAft>
                <a:spcPts val="300"/>
              </a:spcAft>
            </a:pPr>
            <a:r>
              <a:rPr sz="2400" b="1" i="0">
                <a:solidFill>
                  <a:srgbClr val="171717"/>
                </a:solidFill>
                <a:latin typeface="Times New Roman"/>
                <a:ea typeface="Times New Roman"/>
                <a:cs typeface="Times New Roman"/>
              </a:rPr>
              <a:t>4 chỉ số còn đạt qBH &lt; 0.05</a:t>
            </a:r>
          </a:p>
        </p:txBody>
      </p:sp>
      <p:sp>
        <p:nvSpPr>
          <p:cNvPr id="14" name="TextBox 13"/>
          <p:cNvSpPr txBox="1"/>
          <p:nvPr/>
        </p:nvSpPr>
        <p:spPr>
          <a:xfrm>
            <a:off x="786384" y="4992624"/>
            <a:ext cx="5102352" cy="841248"/>
          </a:xfrm>
          <a:prstGeom prst="rect">
            <a:avLst/>
          </a:prstGeom>
          <a:noFill/>
          <a:effectLst/>
        </p:spPr>
        <p:txBody>
          <a:bodyPr wrap="square" lIns="0" rIns="0" tIns="0" bIns="0">
            <a:spAutoFit/>
          </a:bodyPr>
          <a:lstStyle/>
          <a:p>
            <a:pPr algn="l">
              <a:lnSpc>
                <a:spcPct val="103000"/>
              </a:lnSpc>
              <a:spcBef>
                <a:spcPts val="0"/>
              </a:spcBef>
              <a:spcAft>
                <a:spcPts val="300"/>
              </a:spcAft>
            </a:pPr>
            <a:r>
              <a:rPr sz="2200" b="0" i="0">
                <a:solidFill>
                  <a:srgbClr val="171717"/>
                </a:solidFill>
                <a:latin typeface="Times New Roman"/>
                <a:ea typeface="Times New Roman"/>
                <a:cs typeface="Times New Roman"/>
              </a:rPr>
              <a:t>BH-FDR hạn chế tỷ lệ phát hiện sai kỳ vọng trong nhóm kết quả được chọn.</a:t>
            </a:r>
          </a:p>
        </p:txBody>
      </p:sp>
      <p:graphicFrame>
        <p:nvGraphicFramePr>
          <p:cNvPr id="15" name="Table 14"/>
          <p:cNvGraphicFramePr>
            <a:graphicFrameLocks noGrp="1"/>
          </p:cNvGraphicFramePr>
          <p:nvPr/>
        </p:nvGraphicFramePr>
        <p:xfrm>
          <a:off x="6629400" y="1371600"/>
          <a:ext cx="4690872" cy="3657600"/>
        </p:xfrm>
        <a:graphic>
          <a:graphicData uri="http://schemas.openxmlformats.org/drawingml/2006/table">
            <a:tbl>
              <a:tblPr firstRow="1" bandRow="1">
                <a:tableStyleId>{5C22544A-7EE6-4342-B048-85BDC9FD1C3A}</a:tableStyleId>
              </a:tblPr>
              <a:tblGrid>
                <a:gridCol w="3090672"/>
                <a:gridCol w="1600200"/>
              </a:tblGrid>
              <a:tr h="457200">
                <a:tc>
                  <a:txBody>
                    <a:bodyPr wrap="square"/>
                    <a:lstStyle/>
                    <a:p>
                      <a:pPr algn="l">
                        <a:lnSpc>
                          <a:spcPct val="100000"/>
                        </a:lnSpc>
                        <a:spcAft>
                          <a:spcPts val="0"/>
                        </a:spcAft>
                      </a:pPr>
                      <a:r>
                        <a:rPr sz="2300" b="1" i="0">
                          <a:solidFill>
                            <a:srgbClr val="171717"/>
                          </a:solidFill>
                          <a:latin typeface="Times New Roman"/>
                          <a:ea typeface="Times New Roman"/>
                          <a:cs typeface="Times New Roman"/>
                        </a:rPr>
                        <a:t>Chỉ số</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qBH</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1" i="0">
                          <a:solidFill>
                            <a:srgbClr val="1F77B4"/>
                          </a:solidFill>
                          <a:latin typeface="Times New Roman"/>
                          <a:ea typeface="Times New Roman"/>
                          <a:cs typeface="Times New Roman"/>
                        </a:rPr>
                        <a:t>Mean CC</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F77B4"/>
                          </a:solidFill>
                          <a:latin typeface="Times New Roman"/>
                          <a:ea typeface="Times New Roman"/>
                          <a:cs typeface="Times New Roman"/>
                        </a:rPr>
                        <a:t>0.0376</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1" i="0">
                          <a:solidFill>
                            <a:srgbClr val="1F77B4"/>
                          </a:solidFill>
                          <a:latin typeface="Times New Roman"/>
                          <a:ea typeface="Times New Roman"/>
                          <a:cs typeface="Times New Roman"/>
                        </a:rPr>
                        <a:t>Mean NRMSE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F77B4"/>
                          </a:solidFill>
                          <a:latin typeface="Times New Roman"/>
                          <a:ea typeface="Times New Roman"/>
                          <a:cs typeface="Times New Roman"/>
                        </a:rPr>
                        <a:t>0.0255</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1" i="0">
                          <a:solidFill>
                            <a:srgbClr val="1F77B4"/>
                          </a:solidFill>
                          <a:latin typeface="Times New Roman"/>
                          <a:ea typeface="Times New Roman"/>
                          <a:cs typeface="Times New Roman"/>
                        </a:rPr>
                        <a:t>DET (danh định)</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F77B4"/>
                          </a:solidFill>
                          <a:latin typeface="Times New Roman"/>
                          <a:ea typeface="Times New Roman"/>
                          <a:cs typeface="Times New Roman"/>
                        </a:rPr>
                        <a:t>0.0376</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0" i="0">
                          <a:solidFill>
                            <a:srgbClr val="171717"/>
                          </a:solidFill>
                          <a:latin typeface="Times New Roman"/>
                          <a:ea typeface="Times New Roman"/>
                          <a:cs typeface="Times New Roman"/>
                        </a:rPr>
                        <a:t>Lmean</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0.0816</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0" i="0">
                          <a:solidFill>
                            <a:srgbClr val="171717"/>
                          </a:solidFill>
                          <a:latin typeface="Times New Roman"/>
                          <a:ea typeface="Times New Roman"/>
                          <a:cs typeface="Times New Roman"/>
                        </a:rPr>
                        <a:t>LAM</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0.1667</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0" i="0">
                          <a:solidFill>
                            <a:srgbClr val="171717"/>
                          </a:solidFill>
                          <a:latin typeface="Times New Roman"/>
                          <a:ea typeface="Times New Roman"/>
                          <a:cs typeface="Times New Roman"/>
                        </a:rPr>
                        <a:t>TT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0.2024</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57200">
                <a:tc>
                  <a:txBody>
                    <a:bodyPr wrap="square"/>
                    <a:lstStyle/>
                    <a:p>
                      <a:pPr algn="l">
                        <a:lnSpc>
                          <a:spcPct val="100000"/>
                        </a:lnSpc>
                        <a:spcAft>
                          <a:spcPts val="0"/>
                        </a:spcAft>
                      </a:pPr>
                      <a:r>
                        <a:rPr sz="2300" b="1" i="0">
                          <a:solidFill>
                            <a:srgbClr val="1F77B4"/>
                          </a:solidFill>
                          <a:latin typeface="Times New Roman"/>
                          <a:ea typeface="Times New Roman"/>
                          <a:cs typeface="Times New Roman"/>
                        </a:rPr>
                        <a:t>LLE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F77B4"/>
                          </a:solidFill>
                          <a:latin typeface="Times New Roman"/>
                          <a:ea typeface="Times New Roman"/>
                          <a:cs typeface="Times New Roman"/>
                        </a:rPr>
                        <a:t>0.0050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bl>
          </a:graphicData>
        </a:graphic>
      </p:graphicFrame>
      <p:sp>
        <p:nvSpPr>
          <p:cNvPr id="16" name="TextBox 15"/>
          <p:cNvSpPr txBox="1"/>
          <p:nvPr/>
        </p:nvSpPr>
        <p:spPr>
          <a:xfrm>
            <a:off x="6684264" y="5266944"/>
            <a:ext cx="4718304" cy="557784"/>
          </a:xfrm>
          <a:prstGeom prst="rect">
            <a:avLst/>
          </a:prstGeom>
          <a:noFill/>
          <a:effectLst/>
        </p:spPr>
        <p:txBody>
          <a:bodyPr wrap="square" lIns="0" rIns="0" tIns="0" bIns="0">
            <a:spAutoFit/>
          </a:bodyPr>
          <a:lstStyle/>
          <a:p>
            <a:pPr algn="l">
              <a:lnSpc>
                <a:spcPct val="103000"/>
              </a:lnSpc>
              <a:spcBef>
                <a:spcPts val="0"/>
              </a:spcBef>
              <a:spcAft>
                <a:spcPts val="300"/>
              </a:spcAft>
            </a:pPr>
            <a:r>
              <a:rPr sz="2000" b="0" i="0">
                <a:solidFill>
                  <a:srgbClr val="171717"/>
                </a:solidFill>
                <a:latin typeface="Times New Roman"/>
                <a:ea typeface="Times New Roman"/>
                <a:cs typeface="Times New Roman"/>
              </a:rPr>
              <a:t>Ở đây qBH là p đã hiệu chỉnh bằng BH;</a:t>
            </a:r>
          </a:p>
          <a:p>
            <a:pPr algn="l">
              <a:lnSpc>
                <a:spcPct val="103000"/>
              </a:lnSpc>
              <a:spcBef>
                <a:spcPts val="0"/>
              </a:spcBef>
              <a:spcAft>
                <a:spcPts val="300"/>
              </a:spcAft>
            </a:pPr>
            <a:r>
              <a:rPr sz="2000" b="0" i="0">
                <a:solidFill>
                  <a:srgbClr val="171717"/>
                </a:solidFill>
                <a:latin typeface="Times New Roman"/>
                <a:ea typeface="Times New Roman"/>
                <a:cs typeface="Times New Roman"/>
              </a:rPr>
              <a:t>không phải xác suất một kết quả bị sai.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Robustness theo độ dài cửa sổ</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Bốn hướng giữ nguyên từ 30 đến 180 s, nhưng độ bất định thay đổi theo thời lượng.</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7</a:t>
            </a:r>
          </a:p>
        </p:txBody>
      </p:sp>
      <p:sp>
        <p:nvSpPr>
          <p:cNvPr id="5" name="TextBox 4"/>
          <p:cNvSpPr txBox="1"/>
          <p:nvPr/>
        </p:nvSpPr>
        <p:spPr>
          <a:xfrm>
            <a:off x="685800" y="1298448"/>
            <a:ext cx="10972800" cy="347472"/>
          </a:xfrm>
          <a:prstGeom prst="rect">
            <a:avLst/>
          </a:prstGeom>
          <a:noFill/>
          <a:effectLst/>
        </p:spPr>
        <p:txBody>
          <a:bodyPr wrap="square" lIns="0" rIns="0" tIns="0" bIns="0">
            <a:spAutoFit/>
          </a:bodyPr>
          <a:lstStyle/>
          <a:p>
            <a:pPr algn="l">
              <a:lnSpc>
                <a:spcPct val="103000"/>
              </a:lnSpc>
              <a:spcBef>
                <a:spcPts val="0"/>
              </a:spcBef>
              <a:spcAft>
                <a:spcPts val="300"/>
              </a:spcAft>
            </a:pPr>
            <a:r>
              <a:rPr sz="2200" b="0" i="0">
                <a:solidFill>
                  <a:srgbClr val="171717"/>
                </a:solidFill>
                <a:latin typeface="Times New Roman"/>
                <a:ea typeface="Times New Roman"/>
                <a:cs typeface="Times New Roman"/>
              </a:rPr>
              <a:t>Δ ở mức phiên ghi; điểm và bootstrap confidence interval (CI) 95%.</a:t>
            </a:r>
          </a:p>
        </p:txBody>
      </p:sp>
      <p:sp>
        <p:nvSpPr>
          <p:cNvPr id="6" name="TextBox 5"/>
          <p:cNvSpPr txBox="1"/>
          <p:nvPr/>
        </p:nvSpPr>
        <p:spPr>
          <a:xfrm>
            <a:off x="4873752" y="1828800"/>
            <a:ext cx="3136392" cy="274320"/>
          </a:xfrm>
          <a:prstGeom prst="rect">
            <a:avLst/>
          </a:prstGeom>
          <a:noFill/>
          <a:effectLst/>
        </p:spPr>
        <p:txBody>
          <a:bodyPr wrap="square" lIns="0" rIns="0" tIns="0" bIns="0">
            <a:spAutoFit/>
          </a:bodyPr>
          <a:lstStyle/>
          <a:p>
            <a:pPr algn="l">
              <a:lnSpc>
                <a:spcPct val="103000"/>
              </a:lnSpc>
              <a:spcBef>
                <a:spcPts val="0"/>
              </a:spcBef>
              <a:spcAft>
                <a:spcPts val="300"/>
              </a:spcAft>
            </a:pPr>
            <a:r>
              <a:rPr sz="2100" b="1" i="0">
                <a:solidFill>
                  <a:srgbClr val="171717"/>
                </a:solidFill>
                <a:latin typeface="Times New Roman"/>
                <a:ea typeface="Times New Roman"/>
                <a:cs typeface="Times New Roman"/>
              </a:rPr>
              <a:t>Mean CC</a:t>
            </a:r>
          </a:p>
        </p:txBody>
      </p:sp>
      <p:sp>
        <p:nvSpPr>
          <p:cNvPr id="7" name="Rectangle 6"/>
          <p:cNvSpPr/>
          <p:nvPr/>
        </p:nvSpPr>
        <p:spPr>
          <a:xfrm>
            <a:off x="6125565" y="2231136"/>
            <a:ext cx="420624" cy="941832"/>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 name="Connector 7"/>
          <p:cNvCxnSpPr/>
          <p:nvPr/>
        </p:nvCxnSpPr>
        <p:spPr>
          <a:xfrm>
            <a:off x="5422392" y="3082189"/>
            <a:ext cx="2468879"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4873752" y="2986177"/>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−0.07</a:t>
            </a:r>
          </a:p>
        </p:txBody>
      </p:sp>
      <p:cxnSp>
        <p:nvCxnSpPr>
          <p:cNvPr id="10" name="Connector 9"/>
          <p:cNvCxnSpPr/>
          <p:nvPr/>
        </p:nvCxnSpPr>
        <p:spPr>
          <a:xfrm>
            <a:off x="5422392" y="2741767"/>
            <a:ext cx="2468879"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873752" y="2645755"/>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−0.04</a:t>
            </a:r>
          </a:p>
        </p:txBody>
      </p:sp>
      <p:cxnSp>
        <p:nvCxnSpPr>
          <p:cNvPr id="12" name="Connector 11"/>
          <p:cNvCxnSpPr/>
          <p:nvPr/>
        </p:nvCxnSpPr>
        <p:spPr>
          <a:xfrm>
            <a:off x="5422392" y="2287872"/>
            <a:ext cx="2468879" cy="0"/>
          </a:xfrm>
          <a:prstGeom prst="line">
            <a:avLst/>
          </a:prstGeom>
          <a:ln w="8890">
            <a:solidFill>
              <a:srgbClr val="777777"/>
            </a:solidFill>
            <a:prstDash val="dash"/>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73752" y="2191860"/>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0.00</a:t>
            </a:r>
          </a:p>
        </p:txBody>
      </p:sp>
      <p:cxnSp>
        <p:nvCxnSpPr>
          <p:cNvPr id="14" name="Connector 13"/>
          <p:cNvCxnSpPr/>
          <p:nvPr/>
        </p:nvCxnSpPr>
        <p:spPr>
          <a:xfrm>
            <a:off x="5422392" y="2231136"/>
            <a:ext cx="0" cy="941832"/>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5422392" y="3172968"/>
            <a:ext cx="2468879" cy="0"/>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V="1">
            <a:off x="5718657" y="2332127"/>
            <a:ext cx="0" cy="763678"/>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672937" y="3095805"/>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5672937" y="233212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a:off x="5718657" y="2454679"/>
            <a:ext cx="617220" cy="217869"/>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20" name="Oval 19"/>
          <p:cNvSpPr/>
          <p:nvPr/>
        </p:nvSpPr>
        <p:spPr>
          <a:xfrm>
            <a:off x="5679338" y="2415360"/>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499201"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30</a:t>
            </a:r>
          </a:p>
        </p:txBody>
      </p:sp>
      <p:cxnSp>
        <p:nvCxnSpPr>
          <p:cNvPr id="22" name="Connector 21"/>
          <p:cNvCxnSpPr/>
          <p:nvPr/>
        </p:nvCxnSpPr>
        <p:spPr>
          <a:xfrm flipV="1">
            <a:off x="6335877" y="2336666"/>
            <a:ext cx="0" cy="626375"/>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6290157" y="2963041"/>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6290157" y="2336666"/>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6335877" y="2595386"/>
            <a:ext cx="617220" cy="77162"/>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26" name="Oval 25"/>
          <p:cNvSpPr/>
          <p:nvPr/>
        </p:nvSpPr>
        <p:spPr>
          <a:xfrm>
            <a:off x="6296558" y="2633229"/>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116421"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1" i="0">
                <a:solidFill>
                  <a:srgbClr val="171717"/>
                </a:solidFill>
                <a:latin typeface="Times New Roman"/>
                <a:ea typeface="Times New Roman"/>
                <a:cs typeface="Times New Roman"/>
              </a:rPr>
              <a:t>60</a:t>
            </a:r>
          </a:p>
        </p:txBody>
      </p:sp>
      <p:cxnSp>
        <p:nvCxnSpPr>
          <p:cNvPr id="28" name="Connector 27"/>
          <p:cNvCxnSpPr/>
          <p:nvPr/>
        </p:nvCxnSpPr>
        <p:spPr>
          <a:xfrm flipV="1">
            <a:off x="6953097" y="2464891"/>
            <a:ext cx="0" cy="379003"/>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6907377" y="2843894"/>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6907377" y="2464891"/>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6953097" y="2595386"/>
            <a:ext cx="617220" cy="178154"/>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32" name="Oval 31"/>
          <p:cNvSpPr/>
          <p:nvPr/>
        </p:nvSpPr>
        <p:spPr>
          <a:xfrm>
            <a:off x="6913778" y="2556067"/>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733641"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120</a:t>
            </a:r>
          </a:p>
        </p:txBody>
      </p:sp>
      <p:cxnSp>
        <p:nvCxnSpPr>
          <p:cNvPr id="34" name="Connector 33"/>
          <p:cNvCxnSpPr/>
          <p:nvPr/>
        </p:nvCxnSpPr>
        <p:spPr>
          <a:xfrm flipV="1">
            <a:off x="7570317" y="2438792"/>
            <a:ext cx="0" cy="434605"/>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7524597" y="287339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7524597" y="2438792"/>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37" name="Oval 36"/>
          <p:cNvSpPr/>
          <p:nvPr/>
        </p:nvSpPr>
        <p:spPr>
          <a:xfrm>
            <a:off x="7530998" y="2734221"/>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350861"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180</a:t>
            </a:r>
          </a:p>
        </p:txBody>
      </p:sp>
      <p:sp>
        <p:nvSpPr>
          <p:cNvPr id="39" name="TextBox 38"/>
          <p:cNvSpPr txBox="1"/>
          <p:nvPr/>
        </p:nvSpPr>
        <p:spPr>
          <a:xfrm>
            <a:off x="8229600" y="1828800"/>
            <a:ext cx="3136392" cy="274320"/>
          </a:xfrm>
          <a:prstGeom prst="rect">
            <a:avLst/>
          </a:prstGeom>
          <a:noFill/>
          <a:effectLst/>
        </p:spPr>
        <p:txBody>
          <a:bodyPr wrap="square" lIns="0" rIns="0" tIns="0" bIns="0">
            <a:spAutoFit/>
          </a:bodyPr>
          <a:lstStyle/>
          <a:p>
            <a:pPr algn="l">
              <a:lnSpc>
                <a:spcPct val="103000"/>
              </a:lnSpc>
              <a:spcBef>
                <a:spcPts val="0"/>
              </a:spcBef>
              <a:spcAft>
                <a:spcPts val="300"/>
              </a:spcAft>
            </a:pPr>
            <a:r>
              <a:rPr sz="2100" b="1" i="0">
                <a:solidFill>
                  <a:srgbClr val="171717"/>
                </a:solidFill>
                <a:latin typeface="Times New Roman"/>
                <a:ea typeface="Times New Roman"/>
                <a:cs typeface="Times New Roman"/>
              </a:rPr>
              <a:t>Mean NRMSE</a:t>
            </a:r>
          </a:p>
        </p:txBody>
      </p:sp>
      <p:sp>
        <p:nvSpPr>
          <p:cNvPr id="40" name="Rectangle 39"/>
          <p:cNvSpPr/>
          <p:nvPr/>
        </p:nvSpPr>
        <p:spPr>
          <a:xfrm>
            <a:off x="9481413" y="2231136"/>
            <a:ext cx="420624" cy="941832"/>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1" name="Connector 40"/>
          <p:cNvCxnSpPr/>
          <p:nvPr/>
        </p:nvCxnSpPr>
        <p:spPr>
          <a:xfrm>
            <a:off x="8778240" y="3115009"/>
            <a:ext cx="2468880" cy="0"/>
          </a:xfrm>
          <a:prstGeom prst="line">
            <a:avLst/>
          </a:prstGeom>
          <a:ln w="8890">
            <a:solidFill>
              <a:srgbClr val="777777"/>
            </a:solidFill>
            <a:prstDash val="dash"/>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8229600" y="3018997"/>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0.00</a:t>
            </a:r>
          </a:p>
        </p:txBody>
      </p:sp>
      <p:cxnSp>
        <p:nvCxnSpPr>
          <p:cNvPr id="43" name="Connector 42"/>
          <p:cNvCxnSpPr/>
          <p:nvPr/>
        </p:nvCxnSpPr>
        <p:spPr>
          <a:xfrm>
            <a:off x="8778240" y="2680317"/>
            <a:ext cx="2468880"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44" name="TextBox 43"/>
          <p:cNvSpPr txBox="1"/>
          <p:nvPr/>
        </p:nvSpPr>
        <p:spPr>
          <a:xfrm>
            <a:off x="8229600" y="2584305"/>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0.03</a:t>
            </a:r>
          </a:p>
        </p:txBody>
      </p:sp>
      <p:cxnSp>
        <p:nvCxnSpPr>
          <p:cNvPr id="45" name="Connector 44"/>
          <p:cNvCxnSpPr/>
          <p:nvPr/>
        </p:nvCxnSpPr>
        <p:spPr>
          <a:xfrm>
            <a:off x="8778240" y="2245625"/>
            <a:ext cx="2468880"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8229600" y="2149613"/>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0.06</a:t>
            </a:r>
          </a:p>
        </p:txBody>
      </p:sp>
      <p:cxnSp>
        <p:nvCxnSpPr>
          <p:cNvPr id="47" name="Connector 46"/>
          <p:cNvCxnSpPr/>
          <p:nvPr/>
        </p:nvCxnSpPr>
        <p:spPr>
          <a:xfrm>
            <a:off x="8778240" y="2231136"/>
            <a:ext cx="0" cy="941832"/>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a:off x="8778240" y="3172968"/>
            <a:ext cx="2468880" cy="0"/>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flipV="1">
            <a:off x="9074505" y="2312278"/>
            <a:ext cx="0" cy="78969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a:off x="9028785" y="3101968"/>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9028785" y="2312278"/>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9074505" y="2689011"/>
            <a:ext cx="617220" cy="131856"/>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53" name="Oval 52"/>
          <p:cNvSpPr/>
          <p:nvPr/>
        </p:nvSpPr>
        <p:spPr>
          <a:xfrm>
            <a:off x="9035186" y="2781548"/>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8855049"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30</a:t>
            </a:r>
          </a:p>
        </p:txBody>
      </p:sp>
      <p:cxnSp>
        <p:nvCxnSpPr>
          <p:cNvPr id="55" name="Connector 54"/>
          <p:cNvCxnSpPr/>
          <p:nvPr/>
        </p:nvCxnSpPr>
        <p:spPr>
          <a:xfrm flipV="1">
            <a:off x="9691725" y="2347053"/>
            <a:ext cx="0" cy="699854"/>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a:off x="9646005" y="304690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a:off x="9646005" y="2347053"/>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flipV="1">
            <a:off x="9691725" y="2649888"/>
            <a:ext cx="617220" cy="39123"/>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59" name="Oval 58"/>
          <p:cNvSpPr/>
          <p:nvPr/>
        </p:nvSpPr>
        <p:spPr>
          <a:xfrm>
            <a:off x="9652406" y="2649692"/>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472269"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1" i="0">
                <a:solidFill>
                  <a:srgbClr val="171717"/>
                </a:solidFill>
                <a:latin typeface="Times New Roman"/>
                <a:ea typeface="Times New Roman"/>
                <a:cs typeface="Times New Roman"/>
              </a:rPr>
              <a:t>60</a:t>
            </a:r>
          </a:p>
        </p:txBody>
      </p:sp>
      <p:cxnSp>
        <p:nvCxnSpPr>
          <p:cNvPr id="61" name="Connector 60"/>
          <p:cNvCxnSpPr/>
          <p:nvPr/>
        </p:nvCxnSpPr>
        <p:spPr>
          <a:xfrm flipV="1">
            <a:off x="10308945" y="2397767"/>
            <a:ext cx="0" cy="433243"/>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10263225" y="2831010"/>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10263225" y="239776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10308945" y="2649888"/>
            <a:ext cx="617220" cy="0"/>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65" name="Oval 64"/>
          <p:cNvSpPr/>
          <p:nvPr/>
        </p:nvSpPr>
        <p:spPr>
          <a:xfrm>
            <a:off x="10269626" y="2610569"/>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10089489"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120</a:t>
            </a:r>
          </a:p>
        </p:txBody>
      </p:sp>
      <p:cxnSp>
        <p:nvCxnSpPr>
          <p:cNvPr id="67" name="Connector 66"/>
          <p:cNvCxnSpPr/>
          <p:nvPr/>
        </p:nvCxnSpPr>
        <p:spPr>
          <a:xfrm flipV="1">
            <a:off x="10926165" y="2441236"/>
            <a:ext cx="0" cy="404264"/>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a:off x="10880445" y="2845500"/>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a:off x="10880445" y="2441236"/>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70" name="Oval 69"/>
          <p:cNvSpPr/>
          <p:nvPr/>
        </p:nvSpPr>
        <p:spPr>
          <a:xfrm>
            <a:off x="10886846" y="2610569"/>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10706709" y="3246120"/>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180</a:t>
            </a:r>
          </a:p>
        </p:txBody>
      </p:sp>
      <p:sp>
        <p:nvSpPr>
          <p:cNvPr id="72" name="TextBox 71"/>
          <p:cNvSpPr txBox="1"/>
          <p:nvPr/>
        </p:nvSpPr>
        <p:spPr>
          <a:xfrm>
            <a:off x="4873752" y="3822191"/>
            <a:ext cx="3136392" cy="274320"/>
          </a:xfrm>
          <a:prstGeom prst="rect">
            <a:avLst/>
          </a:prstGeom>
          <a:noFill/>
          <a:effectLst/>
        </p:spPr>
        <p:txBody>
          <a:bodyPr wrap="square" lIns="0" rIns="0" tIns="0" bIns="0">
            <a:spAutoFit/>
          </a:bodyPr>
          <a:lstStyle/>
          <a:p>
            <a:pPr algn="l">
              <a:lnSpc>
                <a:spcPct val="103000"/>
              </a:lnSpc>
              <a:spcBef>
                <a:spcPts val="0"/>
              </a:spcBef>
              <a:spcAft>
                <a:spcPts val="300"/>
              </a:spcAft>
            </a:pPr>
            <a:r>
              <a:rPr sz="2100" b="1" i="0">
                <a:solidFill>
                  <a:srgbClr val="171717"/>
                </a:solidFill>
                <a:latin typeface="Times New Roman"/>
                <a:ea typeface="Times New Roman"/>
                <a:cs typeface="Times New Roman"/>
              </a:rPr>
              <a:t>DET (danh định)</a:t>
            </a:r>
          </a:p>
        </p:txBody>
      </p:sp>
      <p:sp>
        <p:nvSpPr>
          <p:cNvPr id="73" name="Rectangle 72"/>
          <p:cNvSpPr/>
          <p:nvPr/>
        </p:nvSpPr>
        <p:spPr>
          <a:xfrm>
            <a:off x="6125565" y="4224528"/>
            <a:ext cx="420624" cy="941832"/>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4" name="Connector 73"/>
          <p:cNvCxnSpPr/>
          <p:nvPr/>
        </p:nvCxnSpPr>
        <p:spPr>
          <a:xfrm>
            <a:off x="5422392" y="5037088"/>
            <a:ext cx="2468879"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75" name="TextBox 74"/>
          <p:cNvSpPr txBox="1"/>
          <p:nvPr/>
        </p:nvSpPr>
        <p:spPr>
          <a:xfrm>
            <a:off x="4873752" y="4941076"/>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−0.04</a:t>
            </a:r>
          </a:p>
        </p:txBody>
      </p:sp>
      <p:cxnSp>
        <p:nvCxnSpPr>
          <p:cNvPr id="76" name="Connector 75"/>
          <p:cNvCxnSpPr/>
          <p:nvPr/>
        </p:nvCxnSpPr>
        <p:spPr>
          <a:xfrm>
            <a:off x="5422392" y="4667743"/>
            <a:ext cx="2468879"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873752" y="4571731"/>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−0.02</a:t>
            </a:r>
          </a:p>
        </p:txBody>
      </p:sp>
      <p:cxnSp>
        <p:nvCxnSpPr>
          <p:cNvPr id="78" name="Connector 77"/>
          <p:cNvCxnSpPr/>
          <p:nvPr/>
        </p:nvCxnSpPr>
        <p:spPr>
          <a:xfrm>
            <a:off x="5422392" y="4298397"/>
            <a:ext cx="2468879" cy="0"/>
          </a:xfrm>
          <a:prstGeom prst="line">
            <a:avLst/>
          </a:prstGeom>
          <a:ln w="8890">
            <a:solidFill>
              <a:srgbClr val="777777"/>
            </a:solidFill>
            <a:prstDash val="dash"/>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873752" y="4202385"/>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0.00</a:t>
            </a:r>
          </a:p>
        </p:txBody>
      </p:sp>
      <p:cxnSp>
        <p:nvCxnSpPr>
          <p:cNvPr id="80" name="Connector 79"/>
          <p:cNvCxnSpPr/>
          <p:nvPr/>
        </p:nvCxnSpPr>
        <p:spPr>
          <a:xfrm>
            <a:off x="5422392" y="4224528"/>
            <a:ext cx="0" cy="941832"/>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a:off x="5422392" y="5166360"/>
            <a:ext cx="2468879" cy="0"/>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flipV="1">
            <a:off x="5718657" y="4294703"/>
            <a:ext cx="0" cy="590954"/>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5672937" y="488565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5672937" y="4294703"/>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5718657" y="4610494"/>
            <a:ext cx="617220" cy="31394"/>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86" name="Oval 85"/>
          <p:cNvSpPr/>
          <p:nvPr/>
        </p:nvSpPr>
        <p:spPr>
          <a:xfrm>
            <a:off x="5679338" y="4571175"/>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5499201"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30</a:t>
            </a:r>
          </a:p>
        </p:txBody>
      </p:sp>
      <p:cxnSp>
        <p:nvCxnSpPr>
          <p:cNvPr id="88" name="Connector 87"/>
          <p:cNvCxnSpPr/>
          <p:nvPr/>
        </p:nvCxnSpPr>
        <p:spPr>
          <a:xfrm flipV="1">
            <a:off x="6335877" y="4425821"/>
            <a:ext cx="0" cy="544785"/>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89" name="Connector 88"/>
          <p:cNvCxnSpPr/>
          <p:nvPr/>
        </p:nvCxnSpPr>
        <p:spPr>
          <a:xfrm>
            <a:off x="6290157" y="4970606"/>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6290157" y="4425821"/>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6335877" y="4641888"/>
            <a:ext cx="617220" cy="27701"/>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92" name="Oval 91"/>
          <p:cNvSpPr/>
          <p:nvPr/>
        </p:nvSpPr>
        <p:spPr>
          <a:xfrm>
            <a:off x="6296558" y="4602569"/>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116421"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1" i="0">
                <a:solidFill>
                  <a:srgbClr val="171717"/>
                </a:solidFill>
                <a:latin typeface="Times New Roman"/>
                <a:ea typeface="Times New Roman"/>
                <a:cs typeface="Times New Roman"/>
              </a:rPr>
              <a:t>60</a:t>
            </a:r>
          </a:p>
        </p:txBody>
      </p:sp>
      <p:cxnSp>
        <p:nvCxnSpPr>
          <p:cNvPr id="94" name="Connector 93"/>
          <p:cNvCxnSpPr/>
          <p:nvPr/>
        </p:nvCxnSpPr>
        <p:spPr>
          <a:xfrm flipV="1">
            <a:off x="6953097" y="4545858"/>
            <a:ext cx="0" cy="489384"/>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6907377" y="5035242"/>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6" name="Connector 95"/>
          <p:cNvCxnSpPr/>
          <p:nvPr/>
        </p:nvCxnSpPr>
        <p:spPr>
          <a:xfrm>
            <a:off x="6907377" y="4545858"/>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97" name="Connector 96"/>
          <p:cNvCxnSpPr/>
          <p:nvPr/>
        </p:nvCxnSpPr>
        <p:spPr>
          <a:xfrm>
            <a:off x="6953097" y="4669589"/>
            <a:ext cx="617220" cy="86797"/>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98" name="Oval 97"/>
          <p:cNvSpPr/>
          <p:nvPr/>
        </p:nvSpPr>
        <p:spPr>
          <a:xfrm>
            <a:off x="6913778" y="4630270"/>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TextBox 98"/>
          <p:cNvSpPr txBox="1"/>
          <p:nvPr/>
        </p:nvSpPr>
        <p:spPr>
          <a:xfrm>
            <a:off x="6733641"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120</a:t>
            </a:r>
          </a:p>
        </p:txBody>
      </p:sp>
      <p:cxnSp>
        <p:nvCxnSpPr>
          <p:cNvPr id="100" name="Connector 99"/>
          <p:cNvCxnSpPr/>
          <p:nvPr/>
        </p:nvCxnSpPr>
        <p:spPr>
          <a:xfrm flipV="1">
            <a:off x="7570317" y="4283623"/>
            <a:ext cx="0" cy="783013"/>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1" name="Connector 100"/>
          <p:cNvCxnSpPr/>
          <p:nvPr/>
        </p:nvCxnSpPr>
        <p:spPr>
          <a:xfrm>
            <a:off x="7524597" y="5066636"/>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02" name="Connector 101"/>
          <p:cNvCxnSpPr/>
          <p:nvPr/>
        </p:nvCxnSpPr>
        <p:spPr>
          <a:xfrm>
            <a:off x="7524597" y="4283623"/>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103" name="Oval 102"/>
          <p:cNvSpPr/>
          <p:nvPr/>
        </p:nvSpPr>
        <p:spPr>
          <a:xfrm>
            <a:off x="7530998" y="4717066"/>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7350861"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180</a:t>
            </a:r>
          </a:p>
        </p:txBody>
      </p:sp>
      <p:sp>
        <p:nvSpPr>
          <p:cNvPr id="105" name="TextBox 104"/>
          <p:cNvSpPr txBox="1"/>
          <p:nvPr/>
        </p:nvSpPr>
        <p:spPr>
          <a:xfrm>
            <a:off x="8229600" y="3822191"/>
            <a:ext cx="3136392" cy="274320"/>
          </a:xfrm>
          <a:prstGeom prst="rect">
            <a:avLst/>
          </a:prstGeom>
          <a:noFill/>
          <a:effectLst/>
        </p:spPr>
        <p:txBody>
          <a:bodyPr wrap="square" lIns="0" rIns="0" tIns="0" bIns="0">
            <a:spAutoFit/>
          </a:bodyPr>
          <a:lstStyle/>
          <a:p>
            <a:pPr algn="l">
              <a:lnSpc>
                <a:spcPct val="103000"/>
              </a:lnSpc>
              <a:spcBef>
                <a:spcPts val="0"/>
              </a:spcBef>
              <a:spcAft>
                <a:spcPts val="300"/>
              </a:spcAft>
            </a:pPr>
            <a:r>
              <a:rPr sz="2100" b="1" i="0">
                <a:solidFill>
                  <a:srgbClr val="171717"/>
                </a:solidFill>
                <a:latin typeface="Times New Roman"/>
                <a:ea typeface="Times New Roman"/>
                <a:cs typeface="Times New Roman"/>
              </a:rPr>
              <a:t>LLE ước lượng (s</a:t>
            </a:r>
            <a:r>
              <a:rPr sz="1638" b="1" i="0" baseline="30000">
                <a:solidFill>
                  <a:srgbClr val="171717"/>
                </a:solidFill>
                <a:latin typeface="Times New Roman"/>
                <a:ea typeface="Times New Roman"/>
                <a:cs typeface="Times New Roman"/>
              </a:rPr>
              <a:t>−1</a:t>
            </a:r>
            <a:r>
              <a:rPr sz="2100" b="1" i="0">
                <a:solidFill>
                  <a:srgbClr val="171717"/>
                </a:solidFill>
                <a:latin typeface="Times New Roman"/>
                <a:ea typeface="Times New Roman"/>
                <a:cs typeface="Times New Roman"/>
              </a:rPr>
              <a:t>)</a:t>
            </a:r>
          </a:p>
        </p:txBody>
      </p:sp>
      <p:sp>
        <p:nvSpPr>
          <p:cNvPr id="106" name="Rectangle 105"/>
          <p:cNvSpPr/>
          <p:nvPr/>
        </p:nvSpPr>
        <p:spPr>
          <a:xfrm>
            <a:off x="9481413" y="4224528"/>
            <a:ext cx="420624" cy="941832"/>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07" name="Connector 106"/>
          <p:cNvCxnSpPr/>
          <p:nvPr/>
        </p:nvCxnSpPr>
        <p:spPr>
          <a:xfrm>
            <a:off x="8778240" y="5098111"/>
            <a:ext cx="2468880"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08" name="TextBox 107"/>
          <p:cNvSpPr txBox="1"/>
          <p:nvPr/>
        </p:nvSpPr>
        <p:spPr>
          <a:xfrm>
            <a:off x="8229600" y="5002099"/>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−0.06</a:t>
            </a:r>
          </a:p>
        </p:txBody>
      </p:sp>
      <p:cxnSp>
        <p:nvCxnSpPr>
          <p:cNvPr id="109" name="Connector 108"/>
          <p:cNvCxnSpPr/>
          <p:nvPr/>
        </p:nvCxnSpPr>
        <p:spPr>
          <a:xfrm>
            <a:off x="8778240" y="4688619"/>
            <a:ext cx="2468880" cy="0"/>
          </a:xfrm>
          <a:prstGeom prst="line">
            <a:avLst/>
          </a:prstGeom>
          <a:ln w="889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10" name="TextBox 109"/>
          <p:cNvSpPr txBox="1"/>
          <p:nvPr/>
        </p:nvSpPr>
        <p:spPr>
          <a:xfrm>
            <a:off x="8229600" y="4592607"/>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−0.03</a:t>
            </a:r>
          </a:p>
        </p:txBody>
      </p:sp>
      <p:cxnSp>
        <p:nvCxnSpPr>
          <p:cNvPr id="111" name="Connector 110"/>
          <p:cNvCxnSpPr/>
          <p:nvPr/>
        </p:nvCxnSpPr>
        <p:spPr>
          <a:xfrm>
            <a:off x="8778240" y="4279126"/>
            <a:ext cx="2468880" cy="0"/>
          </a:xfrm>
          <a:prstGeom prst="line">
            <a:avLst/>
          </a:prstGeom>
          <a:ln w="8890">
            <a:solidFill>
              <a:srgbClr val="777777"/>
            </a:solidFill>
            <a:prstDash val="dash"/>
          </a:ln>
          <a:effectLst/>
        </p:spPr>
        <p:style>
          <a:lnRef idx="2">
            <a:schemeClr val="accent1"/>
          </a:lnRef>
          <a:fillRef idx="0">
            <a:schemeClr val="accent1"/>
          </a:fillRef>
          <a:effectRef idx="0">
            <a:schemeClr val="accent1"/>
          </a:effectRef>
          <a:fontRef idx="minor">
            <a:schemeClr val="tx1"/>
          </a:fontRef>
        </p:style>
      </p:cxnSp>
      <p:sp>
        <p:nvSpPr>
          <p:cNvPr id="112" name="TextBox 111"/>
          <p:cNvSpPr txBox="1"/>
          <p:nvPr/>
        </p:nvSpPr>
        <p:spPr>
          <a:xfrm>
            <a:off x="8229600" y="4183114"/>
            <a:ext cx="484632" cy="228600"/>
          </a:xfrm>
          <a:prstGeom prst="rect">
            <a:avLst/>
          </a:prstGeom>
          <a:noFill/>
          <a:effectLst/>
        </p:spPr>
        <p:txBody>
          <a:bodyPr wrap="square" lIns="0" rIns="0" tIns="0" bIns="0">
            <a:spAutoFit/>
          </a:bodyPr>
          <a:lstStyle/>
          <a:p>
            <a:pPr algn="r">
              <a:lnSpc>
                <a:spcPct val="103000"/>
              </a:lnSpc>
              <a:spcBef>
                <a:spcPts val="0"/>
              </a:spcBef>
              <a:spcAft>
                <a:spcPts val="300"/>
              </a:spcAft>
            </a:pPr>
            <a:r>
              <a:rPr sz="1500" b="0" i="0">
                <a:solidFill>
                  <a:srgbClr val="171717"/>
                </a:solidFill>
                <a:latin typeface="Times New Roman"/>
                <a:ea typeface="Times New Roman"/>
                <a:cs typeface="Times New Roman"/>
              </a:rPr>
              <a:t>0.00</a:t>
            </a:r>
          </a:p>
        </p:txBody>
      </p:sp>
      <p:cxnSp>
        <p:nvCxnSpPr>
          <p:cNvPr id="113" name="Connector 112"/>
          <p:cNvCxnSpPr/>
          <p:nvPr/>
        </p:nvCxnSpPr>
        <p:spPr>
          <a:xfrm>
            <a:off x="8778240" y="4224528"/>
            <a:ext cx="0" cy="941832"/>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a:off x="8778240" y="5166360"/>
            <a:ext cx="2468880" cy="0"/>
          </a:xfrm>
          <a:prstGeom prst="line">
            <a:avLst/>
          </a:prstGeom>
          <a:ln w="10160">
            <a:solidFill>
              <a:srgbClr val="171717"/>
            </a:solidFill>
          </a:ln>
          <a:effectLst/>
        </p:spPr>
        <p:style>
          <a:lnRef idx="2">
            <a:schemeClr val="accent1"/>
          </a:lnRef>
          <a:fillRef idx="0">
            <a:schemeClr val="accent1"/>
          </a:fillRef>
          <a:effectRef idx="0">
            <a:schemeClr val="accent1"/>
          </a:effectRef>
          <a:fontRef idx="minor">
            <a:schemeClr val="tx1"/>
          </a:fontRef>
        </p:style>
      </p:cxnSp>
      <p:cxnSp>
        <p:nvCxnSpPr>
          <p:cNvPr id="115" name="Connector 114"/>
          <p:cNvCxnSpPr/>
          <p:nvPr/>
        </p:nvCxnSpPr>
        <p:spPr>
          <a:xfrm flipV="1">
            <a:off x="9074505" y="4369215"/>
            <a:ext cx="0" cy="659282"/>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16" name="Connector 115"/>
          <p:cNvCxnSpPr/>
          <p:nvPr/>
        </p:nvCxnSpPr>
        <p:spPr>
          <a:xfrm>
            <a:off x="9028785" y="502849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17" name="Connector 116"/>
          <p:cNvCxnSpPr/>
          <p:nvPr/>
        </p:nvCxnSpPr>
        <p:spPr>
          <a:xfrm>
            <a:off x="9028785" y="4369215"/>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18" name="Connector 117"/>
          <p:cNvCxnSpPr/>
          <p:nvPr/>
        </p:nvCxnSpPr>
        <p:spPr>
          <a:xfrm>
            <a:off x="9074505" y="4722743"/>
            <a:ext cx="617220" cy="69614"/>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119" name="Oval 118"/>
          <p:cNvSpPr/>
          <p:nvPr/>
        </p:nvSpPr>
        <p:spPr>
          <a:xfrm>
            <a:off x="9035186" y="4683424"/>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TextBox 119"/>
          <p:cNvSpPr txBox="1"/>
          <p:nvPr/>
        </p:nvSpPr>
        <p:spPr>
          <a:xfrm>
            <a:off x="8855049"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30</a:t>
            </a:r>
          </a:p>
        </p:txBody>
      </p:sp>
      <p:cxnSp>
        <p:nvCxnSpPr>
          <p:cNvPr id="121" name="Connector 120"/>
          <p:cNvCxnSpPr/>
          <p:nvPr/>
        </p:nvCxnSpPr>
        <p:spPr>
          <a:xfrm flipV="1">
            <a:off x="9691725" y="4593070"/>
            <a:ext cx="0" cy="419047"/>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a:off x="9646005" y="5012117"/>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23" name="Connector 122"/>
          <p:cNvCxnSpPr/>
          <p:nvPr/>
        </p:nvCxnSpPr>
        <p:spPr>
          <a:xfrm>
            <a:off x="9646005" y="4593070"/>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24" name="Connector 123"/>
          <p:cNvCxnSpPr/>
          <p:nvPr/>
        </p:nvCxnSpPr>
        <p:spPr>
          <a:xfrm>
            <a:off x="9691725" y="4792357"/>
            <a:ext cx="617220" cy="90088"/>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125" name="Oval 124"/>
          <p:cNvSpPr/>
          <p:nvPr/>
        </p:nvSpPr>
        <p:spPr>
          <a:xfrm>
            <a:off x="9652406" y="4753037"/>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9472269"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1" i="0">
                <a:solidFill>
                  <a:srgbClr val="171717"/>
                </a:solidFill>
                <a:latin typeface="Times New Roman"/>
                <a:ea typeface="Times New Roman"/>
                <a:cs typeface="Times New Roman"/>
              </a:rPr>
              <a:t>60</a:t>
            </a:r>
          </a:p>
        </p:txBody>
      </p:sp>
      <p:cxnSp>
        <p:nvCxnSpPr>
          <p:cNvPr id="127" name="Connector 126"/>
          <p:cNvCxnSpPr/>
          <p:nvPr/>
        </p:nvCxnSpPr>
        <p:spPr>
          <a:xfrm flipV="1">
            <a:off x="10308945" y="4573961"/>
            <a:ext cx="0" cy="511865"/>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28" name="Connector 127"/>
          <p:cNvCxnSpPr/>
          <p:nvPr/>
        </p:nvCxnSpPr>
        <p:spPr>
          <a:xfrm>
            <a:off x="10263225" y="5085826"/>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29" name="Connector 128"/>
          <p:cNvCxnSpPr/>
          <p:nvPr/>
        </p:nvCxnSpPr>
        <p:spPr>
          <a:xfrm>
            <a:off x="10263225" y="4573961"/>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30" name="Connector 129"/>
          <p:cNvCxnSpPr/>
          <p:nvPr/>
        </p:nvCxnSpPr>
        <p:spPr>
          <a:xfrm>
            <a:off x="10308945" y="4882445"/>
            <a:ext cx="617220" cy="76438"/>
          </a:xfrm>
          <a:prstGeom prst="line">
            <a:avLst/>
          </a:prstGeom>
          <a:ln w="1270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131" name="Oval 130"/>
          <p:cNvSpPr/>
          <p:nvPr/>
        </p:nvSpPr>
        <p:spPr>
          <a:xfrm>
            <a:off x="10269626" y="4843126"/>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2" name="TextBox 131"/>
          <p:cNvSpPr txBox="1"/>
          <p:nvPr/>
        </p:nvSpPr>
        <p:spPr>
          <a:xfrm>
            <a:off x="10089489"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120</a:t>
            </a:r>
          </a:p>
        </p:txBody>
      </p:sp>
      <p:cxnSp>
        <p:nvCxnSpPr>
          <p:cNvPr id="133" name="Connector 132"/>
          <p:cNvCxnSpPr/>
          <p:nvPr/>
        </p:nvCxnSpPr>
        <p:spPr>
          <a:xfrm flipV="1">
            <a:off x="10926165" y="4569866"/>
            <a:ext cx="0" cy="506405"/>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34" name="Connector 133"/>
          <p:cNvCxnSpPr/>
          <p:nvPr/>
        </p:nvCxnSpPr>
        <p:spPr>
          <a:xfrm>
            <a:off x="10880445" y="5076271"/>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cxnSp>
        <p:nvCxnSpPr>
          <p:cNvPr id="135" name="Connector 134"/>
          <p:cNvCxnSpPr/>
          <p:nvPr/>
        </p:nvCxnSpPr>
        <p:spPr>
          <a:xfrm>
            <a:off x="10880445" y="4569866"/>
            <a:ext cx="91440" cy="0"/>
          </a:xfrm>
          <a:prstGeom prst="line">
            <a:avLst/>
          </a:prstGeom>
          <a:ln w="13970">
            <a:solidFill>
              <a:srgbClr val="1F77B4"/>
            </a:solidFill>
          </a:ln>
          <a:effectLst/>
        </p:spPr>
        <p:style>
          <a:lnRef idx="2">
            <a:schemeClr val="accent1"/>
          </a:lnRef>
          <a:fillRef idx="0">
            <a:schemeClr val="accent1"/>
          </a:fillRef>
          <a:effectRef idx="0">
            <a:schemeClr val="accent1"/>
          </a:effectRef>
          <a:fontRef idx="minor">
            <a:schemeClr val="tx1"/>
          </a:fontRef>
        </p:style>
      </p:cxnSp>
      <p:sp>
        <p:nvSpPr>
          <p:cNvPr id="136" name="Oval 135"/>
          <p:cNvSpPr/>
          <p:nvPr/>
        </p:nvSpPr>
        <p:spPr>
          <a:xfrm>
            <a:off x="10886846" y="4919564"/>
            <a:ext cx="78638" cy="78638"/>
          </a:xfrm>
          <a:prstGeom prst="ellipse">
            <a:avLst/>
          </a:prstGeom>
          <a:solidFill>
            <a:srgbClr val="1F7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p:cNvSpPr txBox="1"/>
          <p:nvPr/>
        </p:nvSpPr>
        <p:spPr>
          <a:xfrm>
            <a:off x="10706709" y="5239512"/>
            <a:ext cx="438912" cy="274320"/>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171717"/>
                </a:solidFill>
                <a:latin typeface="Times New Roman"/>
                <a:ea typeface="Times New Roman"/>
                <a:cs typeface="Times New Roman"/>
              </a:rPr>
              <a:t>180</a:t>
            </a:r>
          </a:p>
        </p:txBody>
      </p:sp>
      <p:sp>
        <p:nvSpPr>
          <p:cNvPr id="138" name="TextBox 137"/>
          <p:cNvSpPr txBox="1"/>
          <p:nvPr/>
        </p:nvSpPr>
        <p:spPr>
          <a:xfrm>
            <a:off x="722376" y="1874519"/>
            <a:ext cx="3712463" cy="88696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Mean CC ↓, Mean NRMSE ↑, DET ↓ và LLE ↓.</a:t>
            </a:r>
          </a:p>
        </p:txBody>
      </p:sp>
      <p:sp>
        <p:nvSpPr>
          <p:cNvPr id="139" name="TextBox 138"/>
          <p:cNvSpPr txBox="1"/>
          <p:nvPr/>
        </p:nvSpPr>
        <p:spPr>
          <a:xfrm>
            <a:off x="722376" y="2779776"/>
            <a:ext cx="3712463" cy="88696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30 s: bất định lớn hơn.</a:t>
            </a:r>
          </a:p>
        </p:txBody>
      </p:sp>
      <p:sp>
        <p:nvSpPr>
          <p:cNvPr id="140" name="TextBox 139"/>
          <p:cNvSpPr txBox="1"/>
          <p:nvPr/>
        </p:nvSpPr>
        <p:spPr>
          <a:xfrm>
            <a:off x="722376" y="3685031"/>
            <a:ext cx="3712463" cy="88696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DET: CI chứa 0 ở 30 s và 180 s.</a:t>
            </a:r>
          </a:p>
        </p:txBody>
      </p:sp>
      <p:sp>
        <p:nvSpPr>
          <p:cNvPr id="141" name="TextBox 140"/>
          <p:cNvSpPr txBox="1"/>
          <p:nvPr/>
        </p:nvSpPr>
        <p:spPr>
          <a:xfrm>
            <a:off x="722376" y="4590288"/>
            <a:ext cx="3712463" cy="88696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 60 s: cân bằng độ ngắn và độ ổn định.</a:t>
            </a:r>
          </a:p>
        </p:txBody>
      </p:sp>
      <p:sp>
        <p:nvSpPr>
          <p:cNvPr id="142" name="TextBox 141"/>
          <p:cNvSpPr txBox="1"/>
          <p:nvPr/>
        </p:nvSpPr>
        <p:spPr>
          <a:xfrm>
            <a:off x="5230368" y="5797296"/>
            <a:ext cx="6181344" cy="256032"/>
          </a:xfrm>
          <a:prstGeom prst="rect">
            <a:avLst/>
          </a:prstGeom>
          <a:noFill/>
          <a:effectLst/>
        </p:spPr>
        <p:txBody>
          <a:bodyPr wrap="square" lIns="0" rIns="0" tIns="0" bIns="0">
            <a:spAutoFit/>
          </a:bodyPr>
          <a:lstStyle/>
          <a:p>
            <a:pPr algn="ctr">
              <a:lnSpc>
                <a:spcPct val="103000"/>
              </a:lnSpc>
              <a:spcBef>
                <a:spcPts val="0"/>
              </a:spcBef>
              <a:spcAft>
                <a:spcPts val="300"/>
              </a:spcAft>
            </a:pPr>
            <a:r>
              <a:rPr sz="1700" b="0" i="0">
                <a:solidFill>
                  <a:srgbClr val="777777"/>
                </a:solidFill>
                <a:latin typeface="Times New Roman"/>
                <a:ea typeface="Times New Roman"/>
                <a:cs typeface="Times New Roman"/>
              </a:rPr>
              <a:t>Độ dài cửa sổ (s); nền xanh nhạt = cấu hình 60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Độ nhạy với cách xác định nhãn</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Các hướng vẫn xuất hiện khi bỏ vùng chuyển trạng thái và chỉ giữ đoạn đủ dài.</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8</a:t>
            </a:r>
          </a:p>
        </p:txBody>
      </p:sp>
      <p:sp>
        <p:nvSpPr>
          <p:cNvPr id="5" name="TextBox 4"/>
          <p:cNvSpPr txBox="1"/>
          <p:nvPr/>
        </p:nvSpPr>
        <p:spPr>
          <a:xfrm>
            <a:off x="685800" y="1298448"/>
            <a:ext cx="10954512" cy="914400"/>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P0: nhãn gốc. T30/T60: bỏ ±30/±60 s quanh chuyển trạng thái.</a:t>
            </a:r>
          </a:p>
          <a:p>
            <a:pPr algn="l">
              <a:lnSpc>
                <a:spcPct val="103000"/>
              </a:lnSpc>
              <a:spcBef>
                <a:spcPts val="0"/>
              </a:spcBef>
              <a:spcAft>
                <a:spcPts val="300"/>
              </a:spcAft>
            </a:pPr>
            <a:r>
              <a:rPr sz="2300" b="0" i="0">
                <a:solidFill>
                  <a:srgbClr val="171717"/>
                </a:solidFill>
                <a:latin typeface="Times New Roman"/>
                <a:ea typeface="Times New Roman"/>
                <a:cs typeface="Times New Roman"/>
              </a:rPr>
              <a:t>S3/S5: chỉ giữ đoạn cùng trạng thái kéo dài ≥3/≥5 phút.</a:t>
            </a:r>
          </a:p>
        </p:txBody>
      </p:sp>
      <p:graphicFrame>
        <p:nvGraphicFramePr>
          <p:cNvPr id="6" name="Table 5"/>
          <p:cNvGraphicFramePr>
            <a:graphicFrameLocks noGrp="1"/>
          </p:cNvGraphicFramePr>
          <p:nvPr/>
        </p:nvGraphicFramePr>
        <p:xfrm>
          <a:off x="694944" y="2468880"/>
          <a:ext cx="10808208" cy="2377440"/>
        </p:xfrm>
        <a:graphic>
          <a:graphicData uri="http://schemas.openxmlformats.org/drawingml/2006/table">
            <a:tbl>
              <a:tblPr firstRow="1" bandRow="1">
                <a:tableStyleId>{5C22544A-7EE6-4342-B048-85BDC9FD1C3A}</a:tableStyleId>
              </a:tblPr>
              <a:tblGrid>
                <a:gridCol w="2212848"/>
                <a:gridCol w="1719072"/>
                <a:gridCol w="1719072"/>
                <a:gridCol w="1719072"/>
                <a:gridCol w="1719072"/>
                <a:gridCol w="1719072"/>
              </a:tblGrid>
              <a:tr h="475488">
                <a:tc>
                  <a:txBody>
                    <a:bodyPr wrap="square"/>
                    <a:lstStyle/>
                    <a:p>
                      <a:pPr algn="l">
                        <a:lnSpc>
                          <a:spcPct val="100000"/>
                        </a:lnSpc>
                        <a:spcAft>
                          <a:spcPts val="0"/>
                        </a:spcAft>
                      </a:pPr>
                      <a:r>
                        <a:rPr sz="2300" b="1" i="0">
                          <a:solidFill>
                            <a:srgbClr val="171717"/>
                          </a:solidFill>
                          <a:latin typeface="Times New Roman"/>
                          <a:ea typeface="Times New Roman"/>
                          <a:cs typeface="Times New Roman"/>
                        </a:rPr>
                        <a:t>Chỉ số</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P0</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T30</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T60</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S3</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S5</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r>
              <a:tr h="475488">
                <a:tc>
                  <a:txBody>
                    <a:bodyPr wrap="square"/>
                    <a:lstStyle/>
                    <a:p>
                      <a:pPr algn="l">
                        <a:lnSpc>
                          <a:spcPct val="100000"/>
                        </a:lnSpc>
                        <a:spcAft>
                          <a:spcPts val="0"/>
                        </a:spcAft>
                      </a:pPr>
                      <a:r>
                        <a:rPr sz="2300" b="0" i="0">
                          <a:solidFill>
                            <a:srgbClr val="171717"/>
                          </a:solidFill>
                          <a:latin typeface="Times New Roman"/>
                          <a:ea typeface="Times New Roman"/>
                          <a:cs typeface="Times New Roman"/>
                        </a:rPr>
                        <a:t>Mean CC</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 *</a:t>
                      </a:r>
                    </a:p>
                  </a:txBody>
                  <a:tcPr marL="77724" marR="77724" marT="36576" marB="36576" anchor="ctr">
                    <a:solidFill>
                      <a:srgbClr val="FFF1E2"/>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75488">
                <a:tc>
                  <a:txBody>
                    <a:bodyPr wrap="square"/>
                    <a:lstStyle/>
                    <a:p>
                      <a:pPr algn="l">
                        <a:lnSpc>
                          <a:spcPct val="100000"/>
                        </a:lnSpc>
                        <a:spcAft>
                          <a:spcPts val="0"/>
                        </a:spcAft>
                      </a:pPr>
                      <a:r>
                        <a:rPr sz="2300" b="0" i="0">
                          <a:solidFill>
                            <a:srgbClr val="171717"/>
                          </a:solidFill>
                          <a:latin typeface="Times New Roman"/>
                          <a:ea typeface="Times New Roman"/>
                          <a:cs typeface="Times New Roman"/>
                        </a:rPr>
                        <a:t>Mean NRMSE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75488">
                <a:tc>
                  <a:txBody>
                    <a:bodyPr wrap="square"/>
                    <a:lstStyle/>
                    <a:p>
                      <a:pPr algn="l">
                        <a:lnSpc>
                          <a:spcPct val="100000"/>
                        </a:lnSpc>
                        <a:spcAft>
                          <a:spcPts val="0"/>
                        </a:spcAft>
                      </a:pPr>
                      <a:r>
                        <a:rPr sz="2300" b="0" i="0">
                          <a:solidFill>
                            <a:srgbClr val="171717"/>
                          </a:solidFill>
                          <a:latin typeface="Times New Roman"/>
                          <a:ea typeface="Times New Roman"/>
                          <a:cs typeface="Times New Roman"/>
                        </a:rPr>
                        <a:t>DET (danh định)</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475488">
                <a:tc>
                  <a:txBody>
                    <a:bodyPr wrap="square"/>
                    <a:lstStyle/>
                    <a:p>
                      <a:pPr algn="l">
                        <a:lnSpc>
                          <a:spcPct val="100000"/>
                        </a:lnSpc>
                        <a:spcAft>
                          <a:spcPts val="0"/>
                        </a:spcAft>
                      </a:pPr>
                      <a:r>
                        <a:rPr sz="2300" b="0" i="0">
                          <a:solidFill>
                            <a:srgbClr val="171717"/>
                          </a:solidFill>
                          <a:latin typeface="Times New Roman"/>
                          <a:ea typeface="Times New Roman"/>
                          <a:cs typeface="Times New Roman"/>
                        </a:rPr>
                        <a:t>LLE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1" i="0">
                          <a:solidFill>
                            <a:srgbClr val="171717"/>
                          </a:solidFill>
                          <a:latin typeface="Times New Roman"/>
                          <a:ea typeface="Times New Roman"/>
                          <a:cs typeface="Times New Roman"/>
                        </a:rPr>
                        <a:t>↓ *</a:t>
                      </a:r>
                    </a:p>
                  </a:txBody>
                  <a:tcPr marL="77724" marR="77724" marT="36576" marB="36576" anchor="ctr">
                    <a:solidFill>
                      <a:srgbClr val="FFF1E2"/>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3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bl>
          </a:graphicData>
        </a:graphic>
      </p:graphicFrame>
      <p:sp>
        <p:nvSpPr>
          <p:cNvPr id="7" name="TextBox 6"/>
          <p:cNvSpPr txBox="1"/>
          <p:nvPr/>
        </p:nvSpPr>
        <p:spPr>
          <a:xfrm>
            <a:off x="758952" y="5148072"/>
            <a:ext cx="5349240" cy="539496"/>
          </a:xfrm>
          <a:prstGeom prst="rect">
            <a:avLst/>
          </a:prstGeom>
          <a:noFill/>
          <a:effectLst/>
        </p:spPr>
        <p:txBody>
          <a:bodyPr wrap="square" lIns="0" rIns="0" tIns="0" bIns="0">
            <a:spAutoFit/>
          </a:bodyPr>
          <a:lstStyle/>
          <a:p>
            <a:pPr algn="l">
              <a:lnSpc>
                <a:spcPct val="103000"/>
              </a:lnSpc>
              <a:spcBef>
                <a:spcPts val="0"/>
              </a:spcBef>
              <a:spcAft>
                <a:spcPts val="300"/>
              </a:spcAft>
            </a:pPr>
            <a:r>
              <a:rPr sz="2100" b="1" i="0">
                <a:solidFill>
                  <a:srgbClr val="171717"/>
                </a:solidFill>
                <a:latin typeface="Times New Roman"/>
                <a:ea typeface="Times New Roman"/>
                <a:cs typeface="Times New Roman"/>
              </a:rPr>
              <a:t>*T60 Mean CC: CI [−0.0561, +0.0059]</a:t>
            </a:r>
          </a:p>
        </p:txBody>
      </p:sp>
      <p:sp>
        <p:nvSpPr>
          <p:cNvPr id="8" name="TextBox 7"/>
          <p:cNvSpPr txBox="1"/>
          <p:nvPr/>
        </p:nvSpPr>
        <p:spPr>
          <a:xfrm>
            <a:off x="6373368" y="5148072"/>
            <a:ext cx="5001768" cy="539496"/>
          </a:xfrm>
          <a:prstGeom prst="rect">
            <a:avLst/>
          </a:prstGeom>
          <a:noFill/>
          <a:effectLst/>
        </p:spPr>
        <p:txBody>
          <a:bodyPr wrap="square" lIns="0" rIns="0" tIns="0" bIns="0">
            <a:spAutoFit/>
          </a:bodyPr>
          <a:lstStyle/>
          <a:p>
            <a:pPr algn="l">
              <a:lnSpc>
                <a:spcPct val="103000"/>
              </a:lnSpc>
              <a:spcBef>
                <a:spcPts val="0"/>
              </a:spcBef>
              <a:spcAft>
                <a:spcPts val="300"/>
              </a:spcAft>
            </a:pPr>
            <a:r>
              <a:rPr sz="2100" b="1" i="0">
                <a:solidFill>
                  <a:srgbClr val="171717"/>
                </a:solidFill>
                <a:latin typeface="Times New Roman"/>
                <a:ea typeface="Times New Roman"/>
                <a:cs typeface="Times New Roman"/>
              </a:rPr>
              <a:t>*T30 LLE: CI [−0.0535, +0.0020] s</a:t>
            </a:r>
            <a:r>
              <a:rPr sz="1638" b="1" i="0" baseline="30000">
                <a:solidFill>
                  <a:srgbClr val="171717"/>
                </a:solidFill>
                <a:latin typeface="Times New Roman"/>
                <a:ea typeface="Times New Roman"/>
                <a:cs typeface="Times New Roman"/>
              </a:rPr>
              <a:t>−1</a:t>
            </a:r>
          </a:p>
        </p:txBody>
      </p:sp>
      <p:sp>
        <p:nvSpPr>
          <p:cNvPr id="9" name="TextBox 8"/>
          <p:cNvSpPr txBox="1"/>
          <p:nvPr/>
        </p:nvSpPr>
        <p:spPr>
          <a:xfrm>
            <a:off x="768096" y="5724144"/>
            <a:ext cx="10817352" cy="283464"/>
          </a:xfrm>
          <a:prstGeom prst="rect">
            <a:avLst/>
          </a:prstGeom>
          <a:noFill/>
          <a:effectLst/>
        </p:spPr>
        <p:txBody>
          <a:bodyPr wrap="square" lIns="0" rIns="0" tIns="0" bIns="0">
            <a:spAutoFit/>
          </a:bodyPr>
          <a:lstStyle/>
          <a:p>
            <a:pPr algn="l">
              <a:lnSpc>
                <a:spcPct val="103000"/>
              </a:lnSpc>
              <a:spcBef>
                <a:spcPts val="0"/>
              </a:spcBef>
              <a:spcAft>
                <a:spcPts val="300"/>
              </a:spcAft>
            </a:pPr>
            <a:r>
              <a:rPr sz="2000" b="0" i="0">
                <a:solidFill>
                  <a:srgbClr val="171717"/>
                </a:solidFill>
                <a:latin typeface="Times New Roman"/>
                <a:ea typeface="Times New Roman"/>
                <a:cs typeface="Times New Roman"/>
              </a:rPr>
              <a:t>CI của trung vị và kiểm định theo thứ hạng phản ánh các khía cạnh khác nhau.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400" b="0" i="1">
                <a:solidFill>
                  <a:srgbClr val="777777"/>
                </a:solidFill>
                <a:latin typeface="Times New Roman"/>
                <a:ea typeface="Times New Roman"/>
                <a:cs typeface="Times New Roman"/>
              </a:rPr>
              <a:t>Độ nhạy với phase-space reconstruction</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CC, NRMSE và LLE giữ hướng; DET nhạy hơn với embedding delay.</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9</a:t>
            </a:r>
          </a:p>
        </p:txBody>
      </p:sp>
      <p:sp>
        <p:nvSpPr>
          <p:cNvPr id="5" name="TextBox 4"/>
          <p:cNvSpPr txBox="1"/>
          <p:nvPr/>
        </p:nvSpPr>
        <p:spPr>
          <a:xfrm>
            <a:off x="704088" y="1344168"/>
            <a:ext cx="5394960" cy="448056"/>
          </a:xfrm>
          <a:prstGeom prst="rect">
            <a:avLst/>
          </a:prstGeom>
          <a:noFill/>
          <a:effectLst/>
        </p:spPr>
        <p:txBody>
          <a:bodyPr wrap="square" lIns="0" rIns="0" tIns="0" bIns="0">
            <a:spAutoFit/>
          </a:bodyPr>
          <a:lstStyle/>
          <a:p>
            <a:pPr algn="l">
              <a:lnSpc>
                <a:spcPct val="103000"/>
              </a:lnSpc>
              <a:spcBef>
                <a:spcPts val="0"/>
              </a:spcBef>
              <a:spcAft>
                <a:spcPts val="300"/>
              </a:spcAft>
            </a:pPr>
            <a:r>
              <a:rPr sz="2400" b="1" i="0">
                <a:solidFill>
                  <a:srgbClr val="171717"/>
                </a:solidFill>
                <a:latin typeface="Times New Roman"/>
                <a:ea typeface="Times New Roman"/>
                <a:cs typeface="Times New Roman"/>
              </a:rPr>
              <a:t>Embedding delay τ (độ trễ), m = 8</a:t>
            </a:r>
          </a:p>
        </p:txBody>
      </p:sp>
      <p:sp>
        <p:nvSpPr>
          <p:cNvPr id="6" name="TextBox 5"/>
          <p:cNvSpPr txBox="1"/>
          <p:nvPr/>
        </p:nvSpPr>
        <p:spPr>
          <a:xfrm>
            <a:off x="6428232" y="1344168"/>
            <a:ext cx="5056632" cy="713232"/>
          </a:xfrm>
          <a:prstGeom prst="rect">
            <a:avLst/>
          </a:prstGeom>
          <a:noFill/>
          <a:effectLst/>
        </p:spPr>
        <p:txBody>
          <a:bodyPr wrap="square" lIns="0" rIns="0" tIns="0" bIns="0">
            <a:spAutoFit/>
          </a:bodyPr>
          <a:lstStyle/>
          <a:p>
            <a:pPr algn="l">
              <a:lnSpc>
                <a:spcPct val="103000"/>
              </a:lnSpc>
              <a:spcBef>
                <a:spcPts val="0"/>
              </a:spcBef>
              <a:spcAft>
                <a:spcPts val="300"/>
              </a:spcAft>
            </a:pPr>
            <a:r>
              <a:rPr sz="2300" b="1" i="0">
                <a:solidFill>
                  <a:srgbClr val="171717"/>
                </a:solidFill>
                <a:latin typeface="Times New Roman"/>
                <a:ea typeface="Times New Roman"/>
                <a:cs typeface="Times New Roman"/>
              </a:rPr>
              <a:t>Embedding dimension m (số chiều),</a:t>
            </a:r>
          </a:p>
          <a:p>
            <a:pPr algn="l">
              <a:lnSpc>
                <a:spcPct val="103000"/>
              </a:lnSpc>
              <a:spcBef>
                <a:spcPts val="0"/>
              </a:spcBef>
              <a:spcAft>
                <a:spcPts val="300"/>
              </a:spcAft>
            </a:pPr>
            <a:r>
              <a:rPr sz="2300" b="1" i="0">
                <a:solidFill>
                  <a:srgbClr val="171717"/>
                </a:solidFill>
                <a:latin typeface="Times New Roman"/>
                <a:ea typeface="Times New Roman"/>
                <a:cs typeface="Times New Roman"/>
              </a:rPr>
              <a:t>τ = 0.16 s</a:t>
            </a:r>
          </a:p>
        </p:txBody>
      </p:sp>
      <p:graphicFrame>
        <p:nvGraphicFramePr>
          <p:cNvPr id="7" name="Table 6"/>
          <p:cNvGraphicFramePr>
            <a:graphicFrameLocks noGrp="1"/>
          </p:cNvGraphicFramePr>
          <p:nvPr/>
        </p:nvGraphicFramePr>
        <p:xfrm>
          <a:off x="704088" y="2304288"/>
          <a:ext cx="5376672" cy="2606035"/>
        </p:xfrm>
        <a:graphic>
          <a:graphicData uri="http://schemas.openxmlformats.org/drawingml/2006/table">
            <a:tbl>
              <a:tblPr firstRow="1" bandRow="1">
                <a:tableStyleId>{5C22544A-7EE6-4342-B048-85BDC9FD1C3A}</a:tableStyleId>
              </a:tblPr>
              <a:tblGrid>
                <a:gridCol w="1975104"/>
                <a:gridCol w="1133856"/>
                <a:gridCol w="1133856"/>
                <a:gridCol w="1133856"/>
              </a:tblGrid>
              <a:tr h="521207">
                <a:tc>
                  <a:txBody>
                    <a:bodyPr wrap="square"/>
                    <a:lstStyle/>
                    <a:p>
                      <a:pPr algn="l">
                        <a:lnSpc>
                          <a:spcPct val="100000"/>
                        </a:lnSpc>
                        <a:spcAft>
                          <a:spcPts val="0"/>
                        </a:spcAft>
                      </a:pPr>
                      <a:r>
                        <a:rPr sz="2200" b="1" i="0">
                          <a:solidFill>
                            <a:srgbClr val="171717"/>
                          </a:solidFill>
                          <a:latin typeface="Times New Roman"/>
                          <a:ea typeface="Times New Roman"/>
                          <a:cs typeface="Times New Roman"/>
                        </a:rPr>
                        <a:t>Chỉ số</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0.12 s</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0.16 s</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0.20 s</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Mean CC</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Mean NRMSE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DET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+0.0025</a:t>
                      </a:r>
                    </a:p>
                  </a:txBody>
                  <a:tcPr marL="77724" marR="77724" marT="36576" marB="36576" anchor="ctr">
                    <a:solidFill>
                      <a:srgbClr val="FFF1E2"/>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−0.0186</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+0.0015</a:t>
                      </a:r>
                    </a:p>
                  </a:txBody>
                  <a:tcPr marL="77724" marR="77724" marT="36576" marB="36576" anchor="ctr">
                    <a:solidFill>
                      <a:srgbClr val="FFF1E2"/>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LLE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bl>
          </a:graphicData>
        </a:graphic>
      </p:graphicFrame>
      <p:graphicFrame>
        <p:nvGraphicFramePr>
          <p:cNvPr id="8" name="Table 7"/>
          <p:cNvGraphicFramePr>
            <a:graphicFrameLocks noGrp="1"/>
          </p:cNvGraphicFramePr>
          <p:nvPr/>
        </p:nvGraphicFramePr>
        <p:xfrm>
          <a:off x="6428232" y="2304288"/>
          <a:ext cx="5148069" cy="2606035"/>
        </p:xfrm>
        <a:graphic>
          <a:graphicData uri="http://schemas.openxmlformats.org/drawingml/2006/table">
            <a:tbl>
              <a:tblPr firstRow="1" bandRow="1">
                <a:tableStyleId>{5C22544A-7EE6-4342-B048-85BDC9FD1C3A}</a:tableStyleId>
              </a:tblPr>
              <a:tblGrid>
                <a:gridCol w="2048256"/>
                <a:gridCol w="1033271"/>
                <a:gridCol w="1033271"/>
                <a:gridCol w="1033271"/>
              </a:tblGrid>
              <a:tr h="521207">
                <a:tc>
                  <a:txBody>
                    <a:bodyPr wrap="square"/>
                    <a:lstStyle/>
                    <a:p>
                      <a:pPr algn="l">
                        <a:lnSpc>
                          <a:spcPct val="100000"/>
                        </a:lnSpc>
                        <a:spcAft>
                          <a:spcPts val="0"/>
                        </a:spcAft>
                      </a:pPr>
                      <a:r>
                        <a:rPr sz="2200" b="1" i="0">
                          <a:solidFill>
                            <a:srgbClr val="171717"/>
                          </a:solidFill>
                          <a:latin typeface="Times New Roman"/>
                          <a:ea typeface="Times New Roman"/>
                          <a:cs typeface="Times New Roman"/>
                        </a:rPr>
                        <a:t>Chỉ số</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7</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8</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1" i="0">
                          <a:solidFill>
                            <a:srgbClr val="171717"/>
                          </a:solidFill>
                          <a:latin typeface="Times New Roman"/>
                          <a:ea typeface="Times New Roman"/>
                          <a:cs typeface="Times New Roman"/>
                        </a:rPr>
                        <a:t>9</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Mean CC</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Mean NRMSE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DET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21207">
                <a:tc>
                  <a:txBody>
                    <a:bodyPr wrap="square"/>
                    <a:lstStyle/>
                    <a:p>
                      <a:pPr algn="l">
                        <a:lnSpc>
                          <a:spcPct val="100000"/>
                        </a:lnSpc>
                        <a:spcAft>
                          <a:spcPts val="0"/>
                        </a:spcAft>
                      </a:pPr>
                      <a:r>
                        <a:rPr sz="2200" b="0" i="0">
                          <a:solidFill>
                            <a:srgbClr val="171717"/>
                          </a:solidFill>
                          <a:latin typeface="Times New Roman"/>
                          <a:ea typeface="Times New Roman"/>
                          <a:cs typeface="Times New Roman"/>
                        </a:rPr>
                        <a:t>LLE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200" b="0" i="0">
                          <a:solidFill>
                            <a:srgbClr val="171717"/>
                          </a:solidFill>
                          <a:latin typeface="Times New Roman"/>
                          <a:ea typeface="Times New Roman"/>
                          <a:cs typeface="Times New Roman"/>
                        </a:rPr>
                        <a:t>↓</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bl>
          </a:graphicData>
        </a:graphic>
      </p:graphicFrame>
      <p:sp>
        <p:nvSpPr>
          <p:cNvPr id="9" name="TextBox 8"/>
          <p:cNvSpPr txBox="1"/>
          <p:nvPr/>
        </p:nvSpPr>
        <p:spPr>
          <a:xfrm>
            <a:off x="758952" y="5248656"/>
            <a:ext cx="5157216" cy="612648"/>
          </a:xfrm>
          <a:prstGeom prst="rect">
            <a:avLst/>
          </a:prstGeom>
          <a:noFill/>
          <a:effectLst/>
        </p:spPr>
        <p:txBody>
          <a:bodyPr wrap="square" lIns="0" rIns="0" tIns="0" bIns="0">
            <a:spAutoFit/>
          </a:bodyPr>
          <a:lstStyle/>
          <a:p>
            <a:pPr algn="l">
              <a:lnSpc>
                <a:spcPct val="103000"/>
              </a:lnSpc>
              <a:spcBef>
                <a:spcPts val="0"/>
              </a:spcBef>
              <a:spcAft>
                <a:spcPts val="300"/>
              </a:spcAft>
            </a:pPr>
            <a:r>
              <a:rPr sz="2100" b="0" i="0">
                <a:solidFill>
                  <a:srgbClr val="171717"/>
                </a:solidFill>
                <a:latin typeface="Times New Roman"/>
                <a:ea typeface="Times New Roman"/>
                <a:cs typeface="Times New Roman"/>
              </a:rPr>
              <a:t>DET: CI chứa 0 ở τ = 0.12/0.20 s.</a:t>
            </a:r>
          </a:p>
          <a:p>
            <a:pPr algn="l">
              <a:lnSpc>
                <a:spcPct val="103000"/>
              </a:lnSpc>
              <a:spcBef>
                <a:spcPts val="0"/>
              </a:spcBef>
              <a:spcAft>
                <a:spcPts val="300"/>
              </a:spcAft>
            </a:pPr>
            <a:r>
              <a:rPr sz="2100" b="0" i="0">
                <a:solidFill>
                  <a:srgbClr val="171717"/>
                </a:solidFill>
                <a:latin typeface="Times New Roman"/>
                <a:ea typeface="Times New Roman"/>
                <a:cs typeface="Times New Roman"/>
              </a:rPr>
              <a:t>Mốc chính: τ = 0.16 s, m = 8.</a:t>
            </a:r>
          </a:p>
        </p:txBody>
      </p:sp>
      <p:sp>
        <p:nvSpPr>
          <p:cNvPr id="10" name="TextBox 9"/>
          <p:cNvSpPr txBox="1"/>
          <p:nvPr/>
        </p:nvSpPr>
        <p:spPr>
          <a:xfrm>
            <a:off x="6473952" y="5248656"/>
            <a:ext cx="4956048" cy="612648"/>
          </a:xfrm>
          <a:prstGeom prst="rect">
            <a:avLst/>
          </a:prstGeom>
          <a:noFill/>
          <a:effectLst/>
        </p:spPr>
        <p:txBody>
          <a:bodyPr wrap="square" lIns="0" rIns="0" tIns="0" bIns="0">
            <a:spAutoFit/>
          </a:bodyPr>
          <a:lstStyle/>
          <a:p>
            <a:pPr algn="l">
              <a:lnSpc>
                <a:spcPct val="103000"/>
              </a:lnSpc>
              <a:spcBef>
                <a:spcPts val="0"/>
              </a:spcBef>
              <a:spcAft>
                <a:spcPts val="300"/>
              </a:spcAft>
            </a:pPr>
            <a:r>
              <a:rPr sz="2100" b="0" i="0">
                <a:solidFill>
                  <a:srgbClr val="171717"/>
                </a:solidFill>
                <a:latin typeface="Times New Roman"/>
                <a:ea typeface="Times New Roman"/>
                <a:cs typeface="Times New Roman"/>
              </a:rPr>
              <a:t>DET giữ dấu âm ở m = 7–9;</a:t>
            </a:r>
          </a:p>
          <a:p>
            <a:pPr algn="l">
              <a:lnSpc>
                <a:spcPct val="103000"/>
              </a:lnSpc>
              <a:spcBef>
                <a:spcPts val="0"/>
              </a:spcBef>
              <a:spcAft>
                <a:spcPts val="300"/>
              </a:spcAft>
            </a:pPr>
            <a:r>
              <a:rPr sz="2100" b="0" i="0">
                <a:solidFill>
                  <a:srgbClr val="171717"/>
                </a:solidFill>
                <a:latin typeface="Times New Roman"/>
                <a:ea typeface="Times New Roman"/>
                <a:cs typeface="Times New Roman"/>
              </a:rPr>
              <a:t>BH4 chưa hỗ trợ tại m = 7 và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Độ nhạy với các thiết lập estimator</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LLE ổn định hơn qua các thiết lập đã thử; DET cần được diễn giải thận trọng hơn.</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10</a:t>
            </a:r>
          </a:p>
        </p:txBody>
      </p:sp>
      <p:sp>
        <p:nvSpPr>
          <p:cNvPr id="5" name="TextBox 4"/>
          <p:cNvSpPr txBox="1"/>
          <p:nvPr/>
        </p:nvSpPr>
        <p:spPr>
          <a:xfrm>
            <a:off x="777240" y="1344168"/>
            <a:ext cx="5038344" cy="429768"/>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F77B4"/>
                </a:solidFill>
                <a:latin typeface="Times New Roman"/>
                <a:ea typeface="Times New Roman"/>
                <a:cs typeface="Times New Roman"/>
              </a:rPr>
              <a:t>LLE: độ phân kỳ cục bộ ước lượng</a:t>
            </a:r>
          </a:p>
        </p:txBody>
      </p:sp>
      <p:sp>
        <p:nvSpPr>
          <p:cNvPr id="6" name="TextBox 5"/>
          <p:cNvSpPr txBox="1"/>
          <p:nvPr/>
        </p:nvSpPr>
        <p:spPr>
          <a:xfrm>
            <a:off x="6510528" y="1344168"/>
            <a:ext cx="4910328" cy="429768"/>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F77B4"/>
                </a:solidFill>
                <a:latin typeface="Times New Roman"/>
                <a:ea typeface="Times New Roman"/>
                <a:cs typeface="Times New Roman"/>
              </a:rPr>
              <a:t>DET: dưới tái dựng danh định</a:t>
            </a:r>
          </a:p>
        </p:txBody>
      </p:sp>
      <p:cxnSp>
        <p:nvCxnSpPr>
          <p:cNvPr id="7" name="Connector 6"/>
          <p:cNvCxnSpPr/>
          <p:nvPr/>
        </p:nvCxnSpPr>
        <p:spPr>
          <a:xfrm>
            <a:off x="777240" y="1920240"/>
            <a:ext cx="4919472"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6510528" y="1920240"/>
            <a:ext cx="4846320"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77240" y="2276856"/>
            <a:ext cx="5001768" cy="1874519"/>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Khoảng fit: 0.60–1.10 / 0.80–1.30</a:t>
            </a:r>
          </a:p>
          <a:p>
            <a:pPr algn="l">
              <a:lnSpc>
                <a:spcPct val="103000"/>
              </a:lnSpc>
              <a:spcBef>
                <a:spcPts val="0"/>
              </a:spcBef>
              <a:spcAft>
                <a:spcPts val="300"/>
              </a:spcAft>
            </a:pPr>
            <a:r>
              <a:rPr sz="2300" b="0" i="0">
                <a:solidFill>
                  <a:srgbClr val="171717"/>
                </a:solidFill>
                <a:latin typeface="Times New Roman"/>
                <a:ea typeface="Times New Roman"/>
                <a:cs typeface="Times New Roman"/>
              </a:rPr>
              <a:t>và 1.00–1.50 s.</a:t>
            </a:r>
          </a:p>
          <a:p>
            <a:pPr algn="l">
              <a:lnSpc>
                <a:spcPct val="103000"/>
              </a:lnSpc>
              <a:spcBef>
                <a:spcPts val="0"/>
              </a:spcBef>
              <a:spcAft>
                <a:spcPts val="300"/>
              </a:spcAft>
            </a:pPr>
            <a:r>
              <a:rPr sz="2300" b="0" i="0">
                <a:solidFill>
                  <a:srgbClr val="171717"/>
                </a:solidFill>
                <a:latin typeface="Times New Roman"/>
                <a:ea typeface="Times New Roman"/>
                <a:cs typeface="Times New Roman"/>
              </a:rPr>
              <a:t>Ngưỡng R²: ≥0.90 / ≥0.95.</a:t>
            </a:r>
          </a:p>
          <a:p>
            <a:pPr algn="l">
              <a:lnSpc>
                <a:spcPct val="103000"/>
              </a:lnSpc>
              <a:spcBef>
                <a:spcPts val="0"/>
              </a:spcBef>
              <a:spcAft>
                <a:spcPts val="300"/>
              </a:spcAft>
            </a:pPr>
            <a:r>
              <a:rPr sz="2300" b="0" i="0">
                <a:solidFill>
                  <a:srgbClr val="171717"/>
                </a:solidFill>
                <a:latin typeface="Times New Roman"/>
                <a:ea typeface="Times New Roman"/>
                <a:cs typeface="Times New Roman"/>
              </a:rPr>
              <a:t>Hệ số Theiler: 0.75 / 1.00 / 1.25.</a:t>
            </a:r>
          </a:p>
        </p:txBody>
      </p:sp>
      <p:sp>
        <p:nvSpPr>
          <p:cNvPr id="10" name="TextBox 9"/>
          <p:cNvSpPr txBox="1"/>
          <p:nvPr/>
        </p:nvSpPr>
        <p:spPr>
          <a:xfrm>
            <a:off x="6510528" y="2276856"/>
            <a:ext cx="4892040" cy="1399032"/>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RR: 0.01 / 0.02 / 0.03.</a:t>
            </a:r>
          </a:p>
          <a:p>
            <a:pPr algn="l">
              <a:lnSpc>
                <a:spcPct val="103000"/>
              </a:lnSpc>
              <a:spcBef>
                <a:spcPts val="0"/>
              </a:spcBef>
              <a:spcAft>
                <a:spcPts val="300"/>
              </a:spcAft>
            </a:pPr>
            <a:r>
              <a:rPr sz="2300" b="0" i="0">
                <a:solidFill>
                  <a:srgbClr val="171717"/>
                </a:solidFill>
                <a:latin typeface="Times New Roman"/>
                <a:ea typeface="Times New Roman"/>
                <a:cs typeface="Times New Roman"/>
              </a:rPr>
              <a:t>Hệ số Theiler: 0.75 / 1.00 / 1.25.</a:t>
            </a:r>
          </a:p>
          <a:p>
            <a:pPr algn="l">
              <a:lnSpc>
                <a:spcPct val="103000"/>
              </a:lnSpc>
              <a:spcBef>
                <a:spcPts val="0"/>
              </a:spcBef>
              <a:spcAft>
                <a:spcPts val="300"/>
              </a:spcAft>
            </a:pPr>
            <a:r>
              <a:rPr sz="2300" b="0" i="0">
                <a:solidFill>
                  <a:srgbClr val="171717"/>
                </a:solidFill>
                <a:latin typeface="Times New Roman"/>
                <a:ea typeface="Times New Roman"/>
                <a:cs typeface="Times New Roman"/>
              </a:rPr>
              <a:t>Giữ τ = 0.16 s, m = 8.</a:t>
            </a:r>
          </a:p>
        </p:txBody>
      </p:sp>
      <p:sp>
        <p:nvSpPr>
          <p:cNvPr id="11" name="TextBox 10"/>
          <p:cNvSpPr txBox="1"/>
          <p:nvPr/>
        </p:nvSpPr>
        <p:spPr>
          <a:xfrm>
            <a:off x="777240" y="4645152"/>
            <a:ext cx="4974336" cy="950976"/>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71717"/>
                </a:solidFill>
                <a:latin typeface="Times New Roman"/>
                <a:ea typeface="Times New Roman"/>
                <a:cs typeface="Times New Roman"/>
              </a:rPr>
              <a:t>Δ luôn âm; CI loại 0</a:t>
            </a:r>
          </a:p>
          <a:p>
            <a:pPr algn="l">
              <a:lnSpc>
                <a:spcPct val="103000"/>
              </a:lnSpc>
              <a:spcBef>
                <a:spcPts val="0"/>
              </a:spcBef>
              <a:spcAft>
                <a:spcPts val="300"/>
              </a:spcAft>
            </a:pPr>
            <a:r>
              <a:rPr sz="2500" b="1" i="0">
                <a:solidFill>
                  <a:srgbClr val="171717"/>
                </a:solidFill>
                <a:latin typeface="Times New Roman"/>
                <a:ea typeface="Times New Roman"/>
                <a:cs typeface="Times New Roman"/>
              </a:rPr>
              <a:t>trong các thiết lập đã thử.</a:t>
            </a:r>
          </a:p>
        </p:txBody>
      </p:sp>
      <p:sp>
        <p:nvSpPr>
          <p:cNvPr id="12" name="TextBox 11"/>
          <p:cNvSpPr txBox="1"/>
          <p:nvPr/>
        </p:nvSpPr>
        <p:spPr>
          <a:xfrm>
            <a:off x="6510528" y="4315968"/>
            <a:ext cx="4864608" cy="640080"/>
          </a:xfrm>
          <a:prstGeom prst="rect">
            <a:avLst/>
          </a:prstGeom>
          <a:noFill/>
          <a:effectLst/>
        </p:spPr>
        <p:txBody>
          <a:bodyPr wrap="square" lIns="0" rIns="0" tIns="0" bIns="0">
            <a:spAutoFit/>
          </a:bodyPr>
          <a:lstStyle/>
          <a:p>
            <a:pPr algn="l">
              <a:lnSpc>
                <a:spcPct val="103000"/>
              </a:lnSpc>
              <a:spcBef>
                <a:spcPts val="0"/>
              </a:spcBef>
              <a:spcAft>
                <a:spcPts val="300"/>
              </a:spcAft>
            </a:pPr>
            <a:r>
              <a:rPr sz="2300" b="1" i="0">
                <a:solidFill>
                  <a:srgbClr val="171717"/>
                </a:solidFill>
                <a:latin typeface="Times New Roman"/>
                <a:ea typeface="Times New Roman"/>
                <a:cs typeface="Times New Roman"/>
              </a:rPr>
              <a:t>Δ vẫn âm, nhưng mức hỗ trợ</a:t>
            </a:r>
          </a:p>
          <a:p>
            <a:pPr algn="l">
              <a:lnSpc>
                <a:spcPct val="103000"/>
              </a:lnSpc>
              <a:spcBef>
                <a:spcPts val="0"/>
              </a:spcBef>
              <a:spcAft>
                <a:spcPts val="300"/>
              </a:spcAft>
            </a:pPr>
            <a:r>
              <a:rPr sz="2300" b="1" i="0">
                <a:solidFill>
                  <a:srgbClr val="171717"/>
                </a:solidFill>
                <a:latin typeface="Times New Roman"/>
                <a:ea typeface="Times New Roman"/>
                <a:cs typeface="Times New Roman"/>
              </a:rPr>
              <a:t>thống kê yếu hơn tại RR = 0.01.</a:t>
            </a:r>
          </a:p>
        </p:txBody>
      </p:sp>
      <p:sp>
        <p:nvSpPr>
          <p:cNvPr id="13" name="TextBox 12"/>
          <p:cNvSpPr txBox="1"/>
          <p:nvPr/>
        </p:nvSpPr>
        <p:spPr>
          <a:xfrm>
            <a:off x="6510528" y="5294376"/>
            <a:ext cx="4855464" cy="393192"/>
          </a:xfrm>
          <a:prstGeom prst="rect">
            <a:avLst/>
          </a:prstGeom>
          <a:noFill/>
          <a:effectLst/>
        </p:spPr>
        <p:txBody>
          <a:bodyPr wrap="square" lIns="0" rIns="0" tIns="0" bIns="0">
            <a:spAutoFit/>
          </a:bodyPr>
          <a:lstStyle/>
          <a:p>
            <a:pPr algn="l">
              <a:lnSpc>
                <a:spcPct val="103000"/>
              </a:lnSpc>
              <a:spcBef>
                <a:spcPts val="0"/>
              </a:spcBef>
              <a:spcAft>
                <a:spcPts val="300"/>
              </a:spcAft>
            </a:pPr>
            <a:r>
              <a:rPr sz="2200" b="0" i="0">
                <a:solidFill>
                  <a:srgbClr val="171717"/>
                </a:solidFill>
                <a:latin typeface="Times New Roman"/>
                <a:ea typeface="Times New Roman"/>
                <a:cs typeface="Times New Roman"/>
              </a:rPr>
              <a:t>RR = 0.01: raw p = 0.082550.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400" b="0" i="1">
                <a:solidFill>
                  <a:srgbClr val="777777"/>
                </a:solidFill>
                <a:latin typeface="Times New Roman"/>
                <a:ea typeface="Times New Roman"/>
                <a:cs typeface="Times New Roman"/>
              </a:rPr>
              <a:t>Vì sao các phiên ghi lặp lại ảnh hưởng suy luận?</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Thiếu liên kết phiên–người làm tăng bất định về mức độc lập giữa các quan sát.</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11</a:t>
            </a:r>
          </a:p>
        </p:txBody>
      </p:sp>
      <p:sp>
        <p:nvSpPr>
          <p:cNvPr id="5" name="TextBox 4"/>
          <p:cNvSpPr txBox="1"/>
          <p:nvPr/>
        </p:nvSpPr>
        <p:spPr>
          <a:xfrm>
            <a:off x="749808" y="1335024"/>
            <a:ext cx="10808208" cy="393192"/>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71717"/>
                </a:solidFill>
                <a:latin typeface="Times New Roman"/>
                <a:ea typeface="Times New Roman"/>
                <a:cs typeface="Times New Roman"/>
              </a:rPr>
              <a:t>20 phiên ghi từ 10 người, nhưng không biết phiên nào thuộc cùng người.</a:t>
            </a:r>
          </a:p>
        </p:txBody>
      </p:sp>
      <p:sp>
        <p:nvSpPr>
          <p:cNvPr id="6" name="TextBox 5"/>
          <p:cNvSpPr txBox="1"/>
          <p:nvPr/>
        </p:nvSpPr>
        <p:spPr>
          <a:xfrm>
            <a:off x="758952" y="2093976"/>
            <a:ext cx="5321808" cy="329184"/>
          </a:xfrm>
          <a:prstGeom prst="rect">
            <a:avLst/>
          </a:prstGeom>
          <a:noFill/>
          <a:effectLst/>
        </p:spPr>
        <p:txBody>
          <a:bodyPr wrap="square" lIns="0" rIns="0" tIns="0" bIns="0">
            <a:spAutoFit/>
          </a:bodyPr>
          <a:lstStyle/>
          <a:p>
            <a:pPr algn="l">
              <a:lnSpc>
                <a:spcPct val="103000"/>
              </a:lnSpc>
              <a:spcBef>
                <a:spcPts val="0"/>
              </a:spcBef>
              <a:spcAft>
                <a:spcPts val="300"/>
              </a:spcAft>
            </a:pPr>
            <a:r>
              <a:rPr sz="2200" b="1" i="0">
                <a:solidFill>
                  <a:srgbClr val="777777"/>
                </a:solidFill>
                <a:latin typeface="Times New Roman"/>
                <a:ea typeface="Times New Roman"/>
                <a:cs typeface="Times New Roman"/>
              </a:rPr>
              <a:t>Ví dụ minh hoạ; liên kết thực tế chưa biết</a:t>
            </a:r>
          </a:p>
        </p:txBody>
      </p:sp>
      <p:sp>
        <p:nvSpPr>
          <p:cNvPr id="7" name="Rectangle 6"/>
          <p:cNvSpPr/>
          <p:nvPr/>
        </p:nvSpPr>
        <p:spPr>
          <a:xfrm>
            <a:off x="777240" y="2871216"/>
            <a:ext cx="2203704" cy="658368"/>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914400" y="3035808"/>
            <a:ext cx="1929384" cy="338328"/>
          </a:xfrm>
          <a:prstGeom prst="rect">
            <a:avLst/>
          </a:prstGeom>
          <a:noFill/>
          <a:effectLst/>
        </p:spPr>
        <p:txBody>
          <a:bodyPr wrap="square" lIns="0" rIns="0" tIns="0" bIns="0">
            <a:spAutoFit/>
          </a:bodyPr>
          <a:lstStyle/>
          <a:p>
            <a:pPr algn="ctr">
              <a:lnSpc>
                <a:spcPct val="103000"/>
              </a:lnSpc>
              <a:spcBef>
                <a:spcPts val="0"/>
              </a:spcBef>
              <a:spcAft>
                <a:spcPts val="300"/>
              </a:spcAft>
            </a:pPr>
            <a:r>
              <a:rPr sz="2200" b="1" i="0">
                <a:solidFill>
                  <a:srgbClr val="171717"/>
                </a:solidFill>
                <a:latin typeface="Times New Roman"/>
                <a:ea typeface="Times New Roman"/>
                <a:cs typeface="Times New Roman"/>
              </a:rPr>
              <a:t>Người A</a:t>
            </a:r>
          </a:p>
        </p:txBody>
      </p:sp>
      <p:sp>
        <p:nvSpPr>
          <p:cNvPr id="9" name="TextBox 8"/>
          <p:cNvSpPr txBox="1"/>
          <p:nvPr/>
        </p:nvSpPr>
        <p:spPr>
          <a:xfrm>
            <a:off x="3136392" y="3054096"/>
            <a:ext cx="320040" cy="329184"/>
          </a:xfrm>
          <a:prstGeom prst="rect">
            <a:avLst/>
          </a:prstGeom>
          <a:noFill/>
          <a:effectLst/>
        </p:spPr>
        <p:txBody>
          <a:bodyPr wrap="square" lIns="0" rIns="0" tIns="0" bIns="0">
            <a:spAutoFit/>
          </a:bodyPr>
          <a:lstStyle/>
          <a:p>
            <a:pPr algn="l">
              <a:lnSpc>
                <a:spcPct val="103000"/>
              </a:lnSpc>
              <a:spcBef>
                <a:spcPts val="0"/>
              </a:spcBef>
              <a:spcAft>
                <a:spcPts val="300"/>
              </a:spcAft>
            </a:pPr>
            <a:r>
              <a:rPr sz="2600" b="0" i="0">
                <a:solidFill>
                  <a:srgbClr val="171717"/>
                </a:solidFill>
                <a:latin typeface="Times New Roman"/>
                <a:ea typeface="Times New Roman"/>
                <a:cs typeface="Times New Roman"/>
              </a:rPr>
              <a:t>→</a:t>
            </a:r>
          </a:p>
        </p:txBody>
      </p:sp>
      <p:sp>
        <p:nvSpPr>
          <p:cNvPr id="10" name="Rectangle 9"/>
          <p:cNvSpPr/>
          <p:nvPr/>
        </p:nvSpPr>
        <p:spPr>
          <a:xfrm>
            <a:off x="3639312" y="2871216"/>
            <a:ext cx="1225296" cy="658368"/>
          </a:xfrm>
          <a:prstGeom prst="rect">
            <a:avLst/>
          </a:prstGeom>
          <a:solidFill>
            <a:srgbClr val="FFFFFF"/>
          </a:solidFill>
          <a:ln w="8890">
            <a:solidFill>
              <a:srgbClr val="CCCC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694176" y="3044952"/>
            <a:ext cx="1115568" cy="320040"/>
          </a:xfrm>
          <a:prstGeom prst="rect">
            <a:avLst/>
          </a:prstGeom>
          <a:noFill/>
          <a:effectLst/>
        </p:spPr>
        <p:txBody>
          <a:bodyPr wrap="square" lIns="0" rIns="0" tIns="0" bIns="0">
            <a:spAutoFit/>
          </a:bodyPr>
          <a:lstStyle/>
          <a:p>
            <a:pPr algn="ctr">
              <a:lnSpc>
                <a:spcPct val="103000"/>
              </a:lnSpc>
              <a:spcBef>
                <a:spcPts val="0"/>
              </a:spcBef>
              <a:spcAft>
                <a:spcPts val="300"/>
              </a:spcAft>
            </a:pPr>
            <a:r>
              <a:rPr sz="2300" b="0" i="0">
                <a:solidFill>
                  <a:srgbClr val="171717"/>
                </a:solidFill>
                <a:latin typeface="Times New Roman"/>
                <a:ea typeface="Times New Roman"/>
                <a:cs typeface="Times New Roman"/>
              </a:rPr>
              <a:t>Phiên 1</a:t>
            </a:r>
          </a:p>
        </p:txBody>
      </p:sp>
      <p:sp>
        <p:nvSpPr>
          <p:cNvPr id="12" name="Rectangle 11"/>
          <p:cNvSpPr/>
          <p:nvPr/>
        </p:nvSpPr>
        <p:spPr>
          <a:xfrm>
            <a:off x="5020056" y="2871216"/>
            <a:ext cx="1225296" cy="658368"/>
          </a:xfrm>
          <a:prstGeom prst="rect">
            <a:avLst/>
          </a:prstGeom>
          <a:solidFill>
            <a:srgbClr val="FFFFFF"/>
          </a:solidFill>
          <a:ln w="8890">
            <a:solidFill>
              <a:srgbClr val="CCCC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074920" y="3044952"/>
            <a:ext cx="1115568" cy="320040"/>
          </a:xfrm>
          <a:prstGeom prst="rect">
            <a:avLst/>
          </a:prstGeom>
          <a:noFill/>
          <a:effectLst/>
        </p:spPr>
        <p:txBody>
          <a:bodyPr wrap="square" lIns="0" rIns="0" tIns="0" bIns="0">
            <a:spAutoFit/>
          </a:bodyPr>
          <a:lstStyle/>
          <a:p>
            <a:pPr algn="ctr">
              <a:lnSpc>
                <a:spcPct val="103000"/>
              </a:lnSpc>
              <a:spcBef>
                <a:spcPts val="0"/>
              </a:spcBef>
              <a:spcAft>
                <a:spcPts val="300"/>
              </a:spcAft>
            </a:pPr>
            <a:r>
              <a:rPr sz="2300" b="0" i="0">
                <a:solidFill>
                  <a:srgbClr val="171717"/>
                </a:solidFill>
                <a:latin typeface="Times New Roman"/>
                <a:ea typeface="Times New Roman"/>
                <a:cs typeface="Times New Roman"/>
              </a:rPr>
              <a:t>Phiên 8</a:t>
            </a:r>
          </a:p>
        </p:txBody>
      </p:sp>
      <p:sp>
        <p:nvSpPr>
          <p:cNvPr id="14" name="Rectangle 13"/>
          <p:cNvSpPr/>
          <p:nvPr/>
        </p:nvSpPr>
        <p:spPr>
          <a:xfrm>
            <a:off x="777240" y="4178808"/>
            <a:ext cx="2203704" cy="658368"/>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14400" y="4343400"/>
            <a:ext cx="1929384" cy="338328"/>
          </a:xfrm>
          <a:prstGeom prst="rect">
            <a:avLst/>
          </a:prstGeom>
          <a:noFill/>
          <a:effectLst/>
        </p:spPr>
        <p:txBody>
          <a:bodyPr wrap="square" lIns="0" rIns="0" tIns="0" bIns="0">
            <a:spAutoFit/>
          </a:bodyPr>
          <a:lstStyle/>
          <a:p>
            <a:pPr algn="ctr">
              <a:lnSpc>
                <a:spcPct val="103000"/>
              </a:lnSpc>
              <a:spcBef>
                <a:spcPts val="0"/>
              </a:spcBef>
              <a:spcAft>
                <a:spcPts val="300"/>
              </a:spcAft>
            </a:pPr>
            <a:r>
              <a:rPr sz="2200" b="1" i="0">
                <a:solidFill>
                  <a:srgbClr val="171717"/>
                </a:solidFill>
                <a:latin typeface="Times New Roman"/>
                <a:ea typeface="Times New Roman"/>
                <a:cs typeface="Times New Roman"/>
              </a:rPr>
              <a:t>Người B</a:t>
            </a:r>
          </a:p>
        </p:txBody>
      </p:sp>
      <p:sp>
        <p:nvSpPr>
          <p:cNvPr id="16" name="TextBox 15"/>
          <p:cNvSpPr txBox="1"/>
          <p:nvPr/>
        </p:nvSpPr>
        <p:spPr>
          <a:xfrm>
            <a:off x="3136392" y="4361688"/>
            <a:ext cx="320040" cy="329184"/>
          </a:xfrm>
          <a:prstGeom prst="rect">
            <a:avLst/>
          </a:prstGeom>
          <a:noFill/>
          <a:effectLst/>
        </p:spPr>
        <p:txBody>
          <a:bodyPr wrap="square" lIns="0" rIns="0" tIns="0" bIns="0">
            <a:spAutoFit/>
          </a:bodyPr>
          <a:lstStyle/>
          <a:p>
            <a:pPr algn="l">
              <a:lnSpc>
                <a:spcPct val="103000"/>
              </a:lnSpc>
              <a:spcBef>
                <a:spcPts val="0"/>
              </a:spcBef>
              <a:spcAft>
                <a:spcPts val="300"/>
              </a:spcAft>
            </a:pPr>
            <a:r>
              <a:rPr sz="2600" b="0" i="0">
                <a:solidFill>
                  <a:srgbClr val="171717"/>
                </a:solidFill>
                <a:latin typeface="Times New Roman"/>
                <a:ea typeface="Times New Roman"/>
                <a:cs typeface="Times New Roman"/>
              </a:rPr>
              <a:t>→</a:t>
            </a:r>
          </a:p>
        </p:txBody>
      </p:sp>
      <p:sp>
        <p:nvSpPr>
          <p:cNvPr id="17" name="Rectangle 16"/>
          <p:cNvSpPr/>
          <p:nvPr/>
        </p:nvSpPr>
        <p:spPr>
          <a:xfrm>
            <a:off x="3639312" y="4178808"/>
            <a:ext cx="1225296" cy="658368"/>
          </a:xfrm>
          <a:prstGeom prst="rect">
            <a:avLst/>
          </a:prstGeom>
          <a:solidFill>
            <a:srgbClr val="FFFFFF"/>
          </a:solidFill>
          <a:ln w="8890">
            <a:solidFill>
              <a:srgbClr val="CCCC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694176" y="4352544"/>
            <a:ext cx="1115568" cy="320040"/>
          </a:xfrm>
          <a:prstGeom prst="rect">
            <a:avLst/>
          </a:prstGeom>
          <a:noFill/>
          <a:effectLst/>
        </p:spPr>
        <p:txBody>
          <a:bodyPr wrap="square" lIns="0" rIns="0" tIns="0" bIns="0">
            <a:spAutoFit/>
          </a:bodyPr>
          <a:lstStyle/>
          <a:p>
            <a:pPr algn="ctr">
              <a:lnSpc>
                <a:spcPct val="103000"/>
              </a:lnSpc>
              <a:spcBef>
                <a:spcPts val="0"/>
              </a:spcBef>
              <a:spcAft>
                <a:spcPts val="300"/>
              </a:spcAft>
            </a:pPr>
            <a:r>
              <a:rPr sz="2300" b="0" i="0">
                <a:solidFill>
                  <a:srgbClr val="171717"/>
                </a:solidFill>
                <a:latin typeface="Times New Roman"/>
                <a:ea typeface="Times New Roman"/>
                <a:cs typeface="Times New Roman"/>
              </a:rPr>
              <a:t>Phiên 2</a:t>
            </a:r>
          </a:p>
        </p:txBody>
      </p:sp>
      <p:sp>
        <p:nvSpPr>
          <p:cNvPr id="19" name="Rectangle 18"/>
          <p:cNvSpPr/>
          <p:nvPr/>
        </p:nvSpPr>
        <p:spPr>
          <a:xfrm>
            <a:off x="5020056" y="4178808"/>
            <a:ext cx="1225296" cy="658368"/>
          </a:xfrm>
          <a:prstGeom prst="rect">
            <a:avLst/>
          </a:prstGeom>
          <a:solidFill>
            <a:srgbClr val="FFFFFF"/>
          </a:solidFill>
          <a:ln w="8890">
            <a:solidFill>
              <a:srgbClr val="CCCCC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74920" y="4352544"/>
            <a:ext cx="1115568" cy="320040"/>
          </a:xfrm>
          <a:prstGeom prst="rect">
            <a:avLst/>
          </a:prstGeom>
          <a:noFill/>
          <a:effectLst/>
        </p:spPr>
        <p:txBody>
          <a:bodyPr wrap="square" lIns="0" rIns="0" tIns="0" bIns="0">
            <a:spAutoFit/>
          </a:bodyPr>
          <a:lstStyle/>
          <a:p>
            <a:pPr algn="ctr">
              <a:lnSpc>
                <a:spcPct val="103000"/>
              </a:lnSpc>
              <a:spcBef>
                <a:spcPts val="0"/>
              </a:spcBef>
              <a:spcAft>
                <a:spcPts val="300"/>
              </a:spcAft>
            </a:pPr>
            <a:r>
              <a:rPr sz="2300" b="0" i="0">
                <a:solidFill>
                  <a:srgbClr val="171717"/>
                </a:solidFill>
                <a:latin typeface="Times New Roman"/>
                <a:ea typeface="Times New Roman"/>
                <a:cs typeface="Times New Roman"/>
              </a:rPr>
              <a:t>Phiên 5</a:t>
            </a:r>
          </a:p>
        </p:txBody>
      </p:sp>
      <p:sp>
        <p:nvSpPr>
          <p:cNvPr id="21" name="TextBox 20"/>
          <p:cNvSpPr txBox="1"/>
          <p:nvPr/>
        </p:nvSpPr>
        <p:spPr>
          <a:xfrm>
            <a:off x="6766560" y="2432304"/>
            <a:ext cx="4581144" cy="960120"/>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Hai phiên từ cùng một người có thể tương quan.</a:t>
            </a:r>
          </a:p>
        </p:txBody>
      </p:sp>
      <p:sp>
        <p:nvSpPr>
          <p:cNvPr id="22" name="TextBox 21"/>
          <p:cNvSpPr txBox="1"/>
          <p:nvPr/>
        </p:nvSpPr>
        <p:spPr>
          <a:xfrm>
            <a:off x="6766560" y="3410712"/>
            <a:ext cx="4581144" cy="960120"/>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20 phiên không nhất thiết là 20 quan sát hoàn toàn độc lập.</a:t>
            </a:r>
          </a:p>
        </p:txBody>
      </p:sp>
      <p:sp>
        <p:nvSpPr>
          <p:cNvPr id="23" name="TextBox 22"/>
          <p:cNvSpPr txBox="1"/>
          <p:nvPr/>
        </p:nvSpPr>
        <p:spPr>
          <a:xfrm>
            <a:off x="6766560" y="4389120"/>
            <a:ext cx="4581144" cy="960120"/>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 Phân tích chính vẫn suy luận ở mức phiên ghi.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400" b="0" i="1">
                <a:solidFill>
                  <a:srgbClr val="777777"/>
                </a:solidFill>
                <a:latin typeface="Times New Roman"/>
                <a:ea typeface="Times New Roman"/>
                <a:cs typeface="Times New Roman"/>
              </a:rPr>
              <a:t>Kiểm tra khi chưa biết phiên nào thuộc cùng người</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Thử nhiều cách ghép giả định để xem kết luận nhạy ra sao với phụ thuộc giữa các phiên.</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12</a:t>
            </a:r>
          </a:p>
        </p:txBody>
      </p:sp>
      <p:sp>
        <p:nvSpPr>
          <p:cNvPr id="5" name="Rectangle 4"/>
          <p:cNvSpPr/>
          <p:nvPr/>
        </p:nvSpPr>
        <p:spPr>
          <a:xfrm>
            <a:off x="822960" y="1435608"/>
            <a:ext cx="3017520" cy="996696"/>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32688" y="1728216"/>
            <a:ext cx="2798063" cy="512064"/>
          </a:xfrm>
          <a:prstGeom prst="rect">
            <a:avLst/>
          </a:prstGeom>
          <a:noFill/>
          <a:effectLst/>
        </p:spPr>
        <p:txBody>
          <a:bodyPr wrap="square" lIns="0" rIns="0" tIns="0" bIns="0">
            <a:spAutoFit/>
          </a:bodyPr>
          <a:lstStyle/>
          <a:p>
            <a:pPr algn="ctr">
              <a:lnSpc>
                <a:spcPct val="103000"/>
              </a:lnSpc>
              <a:spcBef>
                <a:spcPts val="0"/>
              </a:spcBef>
              <a:spcAft>
                <a:spcPts val="300"/>
              </a:spcAft>
            </a:pPr>
            <a:r>
              <a:rPr sz="2300" b="1" i="0">
                <a:solidFill>
                  <a:srgbClr val="171717"/>
                </a:solidFill>
                <a:latin typeface="Times New Roman"/>
                <a:ea typeface="Times New Roman"/>
                <a:cs typeface="Times New Roman"/>
              </a:rPr>
              <a:t>20 phiên ghi</a:t>
            </a:r>
          </a:p>
        </p:txBody>
      </p:sp>
      <p:sp>
        <p:nvSpPr>
          <p:cNvPr id="7" name="Rectangle 6"/>
          <p:cNvSpPr/>
          <p:nvPr/>
        </p:nvSpPr>
        <p:spPr>
          <a:xfrm>
            <a:off x="4133087" y="1435608"/>
            <a:ext cx="3877056" cy="996696"/>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242816" y="1728216"/>
            <a:ext cx="3657600" cy="512064"/>
          </a:xfrm>
          <a:prstGeom prst="rect">
            <a:avLst/>
          </a:prstGeom>
          <a:noFill/>
          <a:effectLst/>
        </p:spPr>
        <p:txBody>
          <a:bodyPr wrap="square" lIns="0" rIns="0" tIns="0" bIns="0">
            <a:spAutoFit/>
          </a:bodyPr>
          <a:lstStyle/>
          <a:p>
            <a:pPr algn="ctr">
              <a:lnSpc>
                <a:spcPct val="103000"/>
              </a:lnSpc>
              <a:spcBef>
                <a:spcPts val="0"/>
              </a:spcBef>
              <a:spcAft>
                <a:spcPts val="300"/>
              </a:spcAft>
            </a:pPr>
            <a:r>
              <a:rPr sz="2300" b="1" i="0">
                <a:solidFill>
                  <a:srgbClr val="171717"/>
                </a:solidFill>
                <a:latin typeface="Times New Roman"/>
                <a:ea typeface="Times New Roman"/>
                <a:cs typeface="Times New Roman"/>
              </a:rPr>
              <a:t>Ghép thành 10 cặp giả định</a:t>
            </a:r>
          </a:p>
        </p:txBody>
      </p:sp>
      <p:sp>
        <p:nvSpPr>
          <p:cNvPr id="9" name="Rectangle 8"/>
          <p:cNvSpPr/>
          <p:nvPr/>
        </p:nvSpPr>
        <p:spPr>
          <a:xfrm>
            <a:off x="8293608" y="1435608"/>
            <a:ext cx="3081528" cy="996696"/>
          </a:xfrm>
          <a:prstGeom prst="rect">
            <a:avLst/>
          </a:prstGeom>
          <a:solidFill>
            <a:srgbClr val="EEF5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403336" y="1728216"/>
            <a:ext cx="2862072" cy="512064"/>
          </a:xfrm>
          <a:prstGeom prst="rect">
            <a:avLst/>
          </a:prstGeom>
          <a:noFill/>
          <a:effectLst/>
        </p:spPr>
        <p:txBody>
          <a:bodyPr wrap="square" lIns="0" rIns="0" tIns="0" bIns="0">
            <a:spAutoFit/>
          </a:bodyPr>
          <a:lstStyle/>
          <a:p>
            <a:pPr algn="ctr">
              <a:lnSpc>
                <a:spcPct val="103000"/>
              </a:lnSpc>
              <a:spcBef>
                <a:spcPts val="0"/>
              </a:spcBef>
              <a:spcAft>
                <a:spcPts val="300"/>
              </a:spcAft>
            </a:pPr>
            <a:r>
              <a:rPr sz="2300" b="1" i="0">
                <a:solidFill>
                  <a:srgbClr val="171717"/>
                </a:solidFill>
                <a:latin typeface="Times New Roman"/>
                <a:ea typeface="Times New Roman"/>
                <a:cs typeface="Times New Roman"/>
              </a:rPr>
              <a:t>10 chênh lệch cấp cụm</a:t>
            </a:r>
          </a:p>
        </p:txBody>
      </p:sp>
      <p:sp>
        <p:nvSpPr>
          <p:cNvPr id="11" name="TextBox 10"/>
          <p:cNvSpPr txBox="1"/>
          <p:nvPr/>
        </p:nvSpPr>
        <p:spPr>
          <a:xfrm>
            <a:off x="3858768" y="1801368"/>
            <a:ext cx="237744" cy="329184"/>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a:t>
            </a:r>
          </a:p>
        </p:txBody>
      </p:sp>
      <p:sp>
        <p:nvSpPr>
          <p:cNvPr id="12" name="TextBox 11"/>
          <p:cNvSpPr txBox="1"/>
          <p:nvPr/>
        </p:nvSpPr>
        <p:spPr>
          <a:xfrm>
            <a:off x="8055864" y="1801368"/>
            <a:ext cx="237744" cy="329184"/>
          </a:xfrm>
          <a:prstGeom prst="rect">
            <a:avLst/>
          </a:prstGeom>
          <a:noFill/>
          <a:effectLst/>
        </p:spPr>
        <p:txBody>
          <a:bodyPr wrap="square" lIns="0" rIns="0" tIns="0" bIns="0">
            <a:spAutoFit/>
          </a:bodyPr>
          <a:lstStyle/>
          <a:p>
            <a:pPr algn="l">
              <a:lnSpc>
                <a:spcPct val="103000"/>
              </a:lnSpc>
              <a:spcBef>
                <a:spcPts val="0"/>
              </a:spcBef>
              <a:spcAft>
                <a:spcPts val="300"/>
              </a:spcAft>
            </a:pPr>
            <a:r>
              <a:rPr sz="2500" b="0" i="0">
                <a:solidFill>
                  <a:srgbClr val="171717"/>
                </a:solidFill>
                <a:latin typeface="Times New Roman"/>
                <a:ea typeface="Times New Roman"/>
                <a:cs typeface="Times New Roman"/>
              </a:rPr>
              <a:t>→</a:t>
            </a:r>
          </a:p>
        </p:txBody>
      </p:sp>
      <p:sp>
        <p:nvSpPr>
          <p:cNvPr id="13" name="TextBox 12"/>
          <p:cNvSpPr txBox="1"/>
          <p:nvPr/>
        </p:nvSpPr>
        <p:spPr>
          <a:xfrm>
            <a:off x="832104" y="2834640"/>
            <a:ext cx="10524744" cy="630936"/>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Trong mỗi cách ghép, mỗi phiên chỉ xuất hiện một lần.</a:t>
            </a:r>
          </a:p>
          <a:p>
            <a:pPr algn="l">
              <a:lnSpc>
                <a:spcPct val="103000"/>
              </a:lnSpc>
              <a:spcBef>
                <a:spcPts val="0"/>
              </a:spcBef>
              <a:spcAft>
                <a:spcPts val="300"/>
              </a:spcAft>
            </a:pPr>
            <a:r>
              <a:rPr sz="2400" b="0" i="0">
                <a:solidFill>
                  <a:srgbClr val="171717"/>
                </a:solidFill>
                <a:latin typeface="Times New Roman"/>
                <a:ea typeface="Times New Roman"/>
                <a:cs typeface="Times New Roman"/>
              </a:rPr>
              <a:t>Chênh lệch của cụm = trung bình chênh lệch của hai phiên trong cụm.</a:t>
            </a:r>
          </a:p>
        </p:txBody>
      </p:sp>
      <p:sp>
        <p:nvSpPr>
          <p:cNvPr id="14" name="TextBox 13"/>
          <p:cNvSpPr txBox="1"/>
          <p:nvPr/>
        </p:nvSpPr>
        <p:spPr>
          <a:xfrm>
            <a:off x="1051560" y="3794760"/>
            <a:ext cx="10049256" cy="512064"/>
          </a:xfrm>
          <a:prstGeom prst="rect">
            <a:avLst/>
          </a:prstGeom>
          <a:noFill/>
          <a:effectLst/>
        </p:spPr>
        <p:txBody>
          <a:bodyPr wrap="square" lIns="0" rIns="0" tIns="0" bIns="0">
            <a:spAutoFit/>
          </a:bodyPr>
          <a:lstStyle/>
          <a:p>
            <a:pPr algn="ctr">
              <a:lnSpc>
                <a:spcPct val="103000"/>
              </a:lnSpc>
              <a:spcBef>
                <a:spcPts val="0"/>
              </a:spcBef>
              <a:spcAft>
                <a:spcPts val="300"/>
              </a:spcAft>
            </a:pPr>
            <a:r>
              <a:rPr sz="2700" b="1" i="0">
                <a:solidFill>
                  <a:srgbClr val="171717"/>
                </a:solidFill>
                <a:latin typeface="Times New Roman"/>
                <a:ea typeface="Times New Roman"/>
                <a:cs typeface="Times New Roman"/>
              </a:rPr>
              <a:t>Δ cụm = (Δ phiên a + Δ phiên b) / 2</a:t>
            </a:r>
          </a:p>
        </p:txBody>
      </p:sp>
      <p:sp>
        <p:nvSpPr>
          <p:cNvPr id="15" name="TextBox 14"/>
          <p:cNvSpPr txBox="1"/>
          <p:nvPr/>
        </p:nvSpPr>
        <p:spPr>
          <a:xfrm>
            <a:off x="877824" y="4663440"/>
            <a:ext cx="5148072" cy="667512"/>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Wilcoxon trên 10 cụm;</a:t>
            </a:r>
          </a:p>
          <a:p>
            <a:pPr algn="l">
              <a:lnSpc>
                <a:spcPct val="103000"/>
              </a:lnSpc>
              <a:spcBef>
                <a:spcPts val="0"/>
              </a:spcBef>
              <a:spcAft>
                <a:spcPts val="300"/>
              </a:spcAft>
            </a:pPr>
            <a:r>
              <a:rPr sz="2300" b="0" i="0">
                <a:solidFill>
                  <a:srgbClr val="171717"/>
                </a:solidFill>
                <a:latin typeface="Times New Roman"/>
                <a:ea typeface="Times New Roman"/>
                <a:cs typeface="Times New Roman"/>
              </a:rPr>
              <a:t>BH-FDR cho 7 chỉ số trong mỗi lần ghép.</a:t>
            </a:r>
          </a:p>
        </p:txBody>
      </p:sp>
      <p:sp>
        <p:nvSpPr>
          <p:cNvPr id="16" name="TextBox 15"/>
          <p:cNvSpPr txBox="1"/>
          <p:nvPr/>
        </p:nvSpPr>
        <p:spPr>
          <a:xfrm>
            <a:off x="6437376" y="4663440"/>
            <a:ext cx="4892040" cy="667512"/>
          </a:xfrm>
          <a:prstGeom prst="rect">
            <a:avLst/>
          </a:prstGeom>
          <a:noFill/>
          <a:effectLst/>
        </p:spPr>
        <p:txBody>
          <a:bodyPr wrap="square" lIns="0" rIns="0" tIns="0" bIns="0">
            <a:spAutoFit/>
          </a:bodyPr>
          <a:lstStyle/>
          <a:p>
            <a:pPr algn="l">
              <a:lnSpc>
                <a:spcPct val="103000"/>
              </a:lnSpc>
              <a:spcBef>
                <a:spcPts val="0"/>
              </a:spcBef>
              <a:spcAft>
                <a:spcPts val="300"/>
              </a:spcAft>
            </a:pPr>
            <a:r>
              <a:rPr sz="2400" b="1" i="0">
                <a:solidFill>
                  <a:srgbClr val="171717"/>
                </a:solidFill>
                <a:latin typeface="Times New Roman"/>
                <a:ea typeface="Times New Roman"/>
                <a:cs typeface="Times New Roman"/>
              </a:rPr>
              <a:t>Lặp 100,000 lần lấy mẫu:</a:t>
            </a:r>
          </a:p>
          <a:p>
            <a:pPr algn="l">
              <a:lnSpc>
                <a:spcPct val="103000"/>
              </a:lnSpc>
              <a:spcBef>
                <a:spcPts val="0"/>
              </a:spcBef>
              <a:spcAft>
                <a:spcPts val="300"/>
              </a:spcAft>
            </a:pPr>
            <a:r>
              <a:rPr sz="2400" b="1" i="0">
                <a:solidFill>
                  <a:srgbClr val="171717"/>
                </a:solidFill>
                <a:latin typeface="Times New Roman"/>
                <a:ea typeface="Times New Roman"/>
                <a:cs typeface="Times New Roman"/>
              </a:rPr>
              <a:t>99,990 cách ghép khác nhau.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400" b="0" i="1">
                <a:solidFill>
                  <a:srgbClr val="777777"/>
                </a:solidFill>
                <a:latin typeface="Times New Roman"/>
                <a:ea typeface="Times New Roman"/>
                <a:cs typeface="Times New Roman"/>
              </a:rPr>
              <a:t>Kết quả kiểm tra độ nhạy khi ghép phiên giả định</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Ghép phiên giả định giữ hướng trung vị hiệu ứng, nhưng làm giảm mức hỗ trợ thống kê.</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13</a:t>
            </a:r>
          </a:p>
        </p:txBody>
      </p:sp>
      <p:graphicFrame>
        <p:nvGraphicFramePr>
          <p:cNvPr id="5" name="Table 4"/>
          <p:cNvGraphicFramePr>
            <a:graphicFrameLocks noGrp="1"/>
          </p:cNvGraphicFramePr>
          <p:nvPr/>
        </p:nvGraphicFramePr>
        <p:xfrm>
          <a:off x="886968" y="1536192"/>
          <a:ext cx="10405872" cy="2788920"/>
        </p:xfrm>
        <a:graphic>
          <a:graphicData uri="http://schemas.openxmlformats.org/drawingml/2006/table">
            <a:tbl>
              <a:tblPr firstRow="1" bandRow="1">
                <a:tableStyleId>{5C22544A-7EE6-4342-B048-85BDC9FD1C3A}</a:tableStyleId>
              </a:tblPr>
              <a:tblGrid>
                <a:gridCol w="3337560"/>
                <a:gridCol w="3429000"/>
                <a:gridCol w="3639312"/>
              </a:tblGrid>
              <a:tr h="557784">
                <a:tc>
                  <a:txBody>
                    <a:bodyPr wrap="square"/>
                    <a:lstStyle/>
                    <a:p>
                      <a:pPr algn="l">
                        <a:lnSpc>
                          <a:spcPct val="100000"/>
                        </a:lnSpc>
                        <a:spcAft>
                          <a:spcPts val="0"/>
                        </a:spcAft>
                      </a:pPr>
                      <a:r>
                        <a:rPr sz="2400" b="1" i="0">
                          <a:solidFill>
                            <a:srgbClr val="171717"/>
                          </a:solidFill>
                          <a:latin typeface="Times New Roman"/>
                          <a:ea typeface="Times New Roman"/>
                          <a:cs typeface="Times New Roman"/>
                        </a:rPr>
                        <a:t>Chỉ số</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1" i="0">
                          <a:solidFill>
                            <a:srgbClr val="171717"/>
                          </a:solidFill>
                          <a:latin typeface="Times New Roman"/>
                          <a:ea typeface="Times New Roman"/>
                          <a:cs typeface="Times New Roman"/>
                        </a:rPr>
                        <a:t>Giữ dấu trung vị</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1" i="0">
                          <a:solidFill>
                            <a:srgbClr val="171717"/>
                          </a:solidFill>
                          <a:latin typeface="Times New Roman"/>
                          <a:ea typeface="Times New Roman"/>
                          <a:cs typeface="Times New Roman"/>
                        </a:rPr>
                        <a:t>Tần suất qBH &lt; 0.05</a:t>
                      </a:r>
                    </a:p>
                  </a:txBody>
                  <a:tcPr marL="77724" marR="77724" marT="36576" marB="36576" anchor="ctr">
                    <a:solidFill>
                      <a:srgbClr val="EEF5FB"/>
                    </a:solidFill>
                    <a:lnL w="6350">
                      <a:solidFill>
                        <a:srgbClr val="CCCCCC"/>
                      </a:solidFill>
                    </a:lnL>
                    <a:lnR w="6350">
                      <a:solidFill>
                        <a:srgbClr val="CCCCCC"/>
                      </a:solidFill>
                    </a:lnR>
                    <a:lnT w="6350">
                      <a:solidFill>
                        <a:srgbClr val="CCCCCC"/>
                      </a:solidFill>
                    </a:lnT>
                    <a:lnB w="6350">
                      <a:solidFill>
                        <a:srgbClr val="CCCCCC"/>
                      </a:solidFill>
                    </a:lnB>
                  </a:tcPr>
                </a:tc>
              </a:tr>
              <a:tr h="557784">
                <a:tc>
                  <a:txBody>
                    <a:bodyPr wrap="square"/>
                    <a:lstStyle/>
                    <a:p>
                      <a:pPr algn="l">
                        <a:lnSpc>
                          <a:spcPct val="100000"/>
                        </a:lnSpc>
                        <a:spcAft>
                          <a:spcPts val="0"/>
                        </a:spcAft>
                      </a:pPr>
                      <a:r>
                        <a:rPr sz="2400" b="0" i="0">
                          <a:solidFill>
                            <a:srgbClr val="171717"/>
                          </a:solidFill>
                          <a:latin typeface="Times New Roman"/>
                          <a:ea typeface="Times New Roman"/>
                          <a:cs typeface="Times New Roman"/>
                        </a:rPr>
                        <a:t>Mean CC</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0" i="0">
                          <a:solidFill>
                            <a:srgbClr val="171717"/>
                          </a:solidFill>
                          <a:latin typeface="Times New Roman"/>
                          <a:ea typeface="Times New Roman"/>
                          <a:cs typeface="Times New Roman"/>
                        </a:rPr>
                        <a:t>100%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0" i="0">
                          <a:solidFill>
                            <a:srgbClr val="171717"/>
                          </a:solidFill>
                          <a:latin typeface="Times New Roman"/>
                          <a:ea typeface="Times New Roman"/>
                          <a:cs typeface="Times New Roman"/>
                        </a:rPr>
                        <a:t>19.36%</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57784">
                <a:tc>
                  <a:txBody>
                    <a:bodyPr wrap="square"/>
                    <a:lstStyle/>
                    <a:p>
                      <a:pPr algn="l">
                        <a:lnSpc>
                          <a:spcPct val="100000"/>
                        </a:lnSpc>
                        <a:spcAft>
                          <a:spcPts val="0"/>
                        </a:spcAft>
                      </a:pPr>
                      <a:r>
                        <a:rPr sz="2400" b="0" i="0">
                          <a:solidFill>
                            <a:srgbClr val="171717"/>
                          </a:solidFill>
                          <a:latin typeface="Times New Roman"/>
                          <a:ea typeface="Times New Roman"/>
                          <a:cs typeface="Times New Roman"/>
                        </a:rPr>
                        <a:t>Mean NRMSE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0" i="0">
                          <a:solidFill>
                            <a:srgbClr val="171717"/>
                          </a:solidFill>
                          <a:latin typeface="Times New Roman"/>
                          <a:ea typeface="Times New Roman"/>
                          <a:cs typeface="Times New Roman"/>
                        </a:rPr>
                        <a:t>100%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0" i="0">
                          <a:solidFill>
                            <a:srgbClr val="171717"/>
                          </a:solidFill>
                          <a:latin typeface="Times New Roman"/>
                          <a:ea typeface="Times New Roman"/>
                          <a:cs typeface="Times New Roman"/>
                        </a:rPr>
                        <a:t>27.82%</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57784">
                <a:tc>
                  <a:txBody>
                    <a:bodyPr wrap="square"/>
                    <a:lstStyle/>
                    <a:p>
                      <a:pPr algn="l">
                        <a:lnSpc>
                          <a:spcPct val="100000"/>
                        </a:lnSpc>
                        <a:spcAft>
                          <a:spcPts val="0"/>
                        </a:spcAft>
                      </a:pPr>
                      <a:r>
                        <a:rPr sz="2400" b="0" i="0">
                          <a:solidFill>
                            <a:srgbClr val="171717"/>
                          </a:solidFill>
                          <a:latin typeface="Times New Roman"/>
                          <a:ea typeface="Times New Roman"/>
                          <a:cs typeface="Times New Roman"/>
                        </a:rPr>
                        <a:t>DET (danh định)</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0" i="0">
                          <a:solidFill>
                            <a:srgbClr val="171717"/>
                          </a:solidFill>
                          <a:latin typeface="Times New Roman"/>
                          <a:ea typeface="Times New Roman"/>
                          <a:cs typeface="Times New Roman"/>
                        </a:rPr>
                        <a:t>100%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0" i="0">
                          <a:solidFill>
                            <a:srgbClr val="171717"/>
                          </a:solidFill>
                          <a:latin typeface="Times New Roman"/>
                          <a:ea typeface="Times New Roman"/>
                          <a:cs typeface="Times New Roman"/>
                        </a:rPr>
                        <a:t>22.59%</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r h="557784">
                <a:tc>
                  <a:txBody>
                    <a:bodyPr wrap="square"/>
                    <a:lstStyle/>
                    <a:p>
                      <a:pPr algn="l">
                        <a:lnSpc>
                          <a:spcPct val="100000"/>
                        </a:lnSpc>
                        <a:spcAft>
                          <a:spcPts val="0"/>
                        </a:spcAft>
                      </a:pPr>
                      <a:r>
                        <a:rPr sz="2400" b="1" i="0">
                          <a:solidFill>
                            <a:srgbClr val="1F77B4"/>
                          </a:solidFill>
                          <a:latin typeface="Times New Roman"/>
                          <a:ea typeface="Times New Roman"/>
                          <a:cs typeface="Times New Roman"/>
                        </a:rPr>
                        <a:t>LLE</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1" i="0">
                          <a:solidFill>
                            <a:srgbClr val="1F77B4"/>
                          </a:solidFill>
                          <a:latin typeface="Times New Roman"/>
                          <a:ea typeface="Times New Roman"/>
                          <a:cs typeface="Times New Roman"/>
                        </a:rPr>
                        <a:t>100%</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c>
                  <a:txBody>
                    <a:bodyPr wrap="square"/>
                    <a:lstStyle/>
                    <a:p>
                      <a:pPr algn="ctr">
                        <a:lnSpc>
                          <a:spcPct val="100000"/>
                        </a:lnSpc>
                        <a:spcAft>
                          <a:spcPts val="0"/>
                        </a:spcAft>
                      </a:pPr>
                      <a:r>
                        <a:rPr sz="2400" b="1" i="0">
                          <a:solidFill>
                            <a:srgbClr val="1F77B4"/>
                          </a:solidFill>
                          <a:latin typeface="Times New Roman"/>
                          <a:ea typeface="Times New Roman"/>
                          <a:cs typeface="Times New Roman"/>
                        </a:rPr>
                        <a:t>79.69%</a:t>
                      </a:r>
                    </a:p>
                  </a:txBody>
                  <a:tcPr marL="77724" marR="77724" marT="36576" marB="36576" anchor="ctr">
                    <a:solidFill>
                      <a:srgbClr val="FFFFFF"/>
                    </a:solidFill>
                    <a:lnL w="6350">
                      <a:solidFill>
                        <a:srgbClr val="CCCCCC"/>
                      </a:solidFill>
                    </a:lnL>
                    <a:lnR w="6350">
                      <a:solidFill>
                        <a:srgbClr val="CCCCCC"/>
                      </a:solidFill>
                    </a:lnR>
                    <a:lnT w="6350">
                      <a:solidFill>
                        <a:srgbClr val="CCCCCC"/>
                      </a:solidFill>
                    </a:lnT>
                    <a:lnB w="6350">
                      <a:solidFill>
                        <a:srgbClr val="CCCCCC"/>
                      </a:solidFill>
                    </a:lnB>
                  </a:tcPr>
                </a:tc>
              </a:tr>
            </a:tbl>
          </a:graphicData>
        </a:graphic>
      </p:graphicFrame>
      <p:sp>
        <p:nvSpPr>
          <p:cNvPr id="6" name="TextBox 5"/>
          <p:cNvSpPr txBox="1"/>
          <p:nvPr/>
        </p:nvSpPr>
        <p:spPr>
          <a:xfrm>
            <a:off x="923544" y="4599432"/>
            <a:ext cx="10241280" cy="466344"/>
          </a:xfrm>
          <a:prstGeom prst="rect">
            <a:avLst/>
          </a:prstGeom>
          <a:noFill/>
          <a:effectLst/>
        </p:spPr>
        <p:txBody>
          <a:bodyPr wrap="square" lIns="0" rIns="0" tIns="0" bIns="0">
            <a:spAutoFit/>
          </a:bodyPr>
          <a:lstStyle/>
          <a:p>
            <a:pPr algn="l">
              <a:lnSpc>
                <a:spcPct val="103000"/>
              </a:lnSpc>
              <a:spcBef>
                <a:spcPts val="0"/>
              </a:spcBef>
              <a:spcAft>
                <a:spcPts val="300"/>
              </a:spcAft>
            </a:pPr>
            <a:r>
              <a:rPr sz="2600" b="1" i="0">
                <a:solidFill>
                  <a:srgbClr val="171717"/>
                </a:solidFill>
                <a:latin typeface="Times New Roman"/>
                <a:ea typeface="Times New Roman"/>
                <a:cs typeface="Times New Roman"/>
              </a:rPr>
              <a:t>Hướng thay đổi ổn định hơn mức độ hỗ trợ thống kê.</a:t>
            </a:r>
          </a:p>
        </p:txBody>
      </p:sp>
      <p:sp>
        <p:nvSpPr>
          <p:cNvPr id="7" name="TextBox 6"/>
          <p:cNvSpPr txBox="1"/>
          <p:nvPr/>
        </p:nvSpPr>
        <p:spPr>
          <a:xfrm>
            <a:off x="923544" y="5212080"/>
            <a:ext cx="10186416" cy="786384"/>
          </a:xfrm>
          <a:prstGeom prst="rect">
            <a:avLst/>
          </a:prstGeom>
          <a:noFill/>
          <a:effectLst/>
        </p:spPr>
        <p:txBody>
          <a:bodyPr wrap="square" lIns="0" rIns="0" tIns="0" bIns="0">
            <a:spAutoFit/>
          </a:bodyPr>
          <a:lstStyle/>
          <a:p>
            <a:pPr algn="l">
              <a:lnSpc>
                <a:spcPct val="103000"/>
              </a:lnSpc>
              <a:spcBef>
                <a:spcPts val="0"/>
              </a:spcBef>
              <a:spcAft>
                <a:spcPts val="0"/>
              </a:spcAft>
            </a:pPr>
            <a:r>
              <a:rPr sz="2000" b="0" i="0">
                <a:solidFill>
                  <a:srgbClr val="171717"/>
                </a:solidFill>
                <a:latin typeface="Times New Roman"/>
                <a:ea typeface="Times New Roman"/>
                <a:cs typeface="Times New Roman"/>
              </a:rPr>
              <a:t>LLE duy trì qBH &lt; 0.05 nhiều nhất.</a:t>
            </a:r>
          </a:p>
          <a:p>
            <a:pPr algn="l">
              <a:lnSpc>
                <a:spcPct val="103000"/>
              </a:lnSpc>
              <a:spcBef>
                <a:spcPts val="0"/>
              </a:spcBef>
              <a:spcAft>
                <a:spcPts val="0"/>
              </a:spcAft>
            </a:pPr>
            <a:r>
              <a:rPr sz="2000" b="0" i="0">
                <a:solidFill>
                  <a:srgbClr val="171717"/>
                </a:solidFill>
                <a:latin typeface="Times New Roman"/>
                <a:ea typeface="Times New Roman"/>
                <a:cs typeface="Times New Roman"/>
              </a:rPr>
              <a:t>Tần suất không phải xác suất kết quả thật có ý nghĩa.</a:t>
            </a:r>
          </a:p>
          <a:p>
            <a:pPr algn="l">
              <a:lnSpc>
                <a:spcPct val="103000"/>
              </a:lnSpc>
              <a:spcBef>
                <a:spcPts val="0"/>
              </a:spcBef>
              <a:spcAft>
                <a:spcPts val="0"/>
              </a:spcAft>
            </a:pPr>
            <a:r>
              <a:rPr sz="2000" b="0" i="0">
                <a:solidFill>
                  <a:srgbClr val="171717"/>
                </a:solidFill>
                <a:latin typeface="Times New Roman"/>
                <a:ea typeface="Times New Roman"/>
                <a:cs typeface="Times New Roman"/>
              </a:rPr>
              <a:t>Suy luận chính vẫn ở mức phiên ghi (recording-session level).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500" b="0" i="1">
                <a:solidFill>
                  <a:srgbClr val="777777"/>
                </a:solidFill>
                <a:latin typeface="Times New Roman"/>
                <a:ea typeface="Times New Roman"/>
                <a:cs typeface="Times New Roman"/>
              </a:rPr>
              <a:t>Nên hiểu robustness như thế nào?</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Hướng ổn định hơn độ lớn hiệu ứng và mức hỗ trợ thống kê trong các thiết lập đã thử.</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14</a:t>
            </a:r>
          </a:p>
        </p:txBody>
      </p:sp>
      <p:sp>
        <p:nvSpPr>
          <p:cNvPr id="5" name="TextBox 4"/>
          <p:cNvSpPr txBox="1"/>
          <p:nvPr/>
        </p:nvSpPr>
        <p:spPr>
          <a:xfrm>
            <a:off x="777240" y="1581912"/>
            <a:ext cx="3063240" cy="804672"/>
          </a:xfrm>
          <a:prstGeom prst="rect">
            <a:avLst/>
          </a:prstGeom>
          <a:noFill/>
          <a:effectLst/>
        </p:spPr>
        <p:txBody>
          <a:bodyPr wrap="square" lIns="0" rIns="0" tIns="0" bIns="0">
            <a:spAutoFit/>
          </a:bodyPr>
          <a:lstStyle/>
          <a:p>
            <a:pPr algn="l">
              <a:lnSpc>
                <a:spcPct val="103000"/>
              </a:lnSpc>
              <a:spcBef>
                <a:spcPts val="0"/>
              </a:spcBef>
              <a:spcAft>
                <a:spcPts val="300"/>
              </a:spcAft>
            </a:pPr>
            <a:r>
              <a:rPr sz="2800" b="1" i="0">
                <a:solidFill>
                  <a:srgbClr val="1F77B4"/>
                </a:solidFill>
                <a:latin typeface="Times New Roman"/>
                <a:ea typeface="Times New Roman"/>
                <a:cs typeface="Times New Roman"/>
              </a:rPr>
              <a:t>Hướng thay đổi</a:t>
            </a:r>
          </a:p>
        </p:txBody>
      </p:sp>
      <p:cxnSp>
        <p:nvCxnSpPr>
          <p:cNvPr id="6" name="Connector 5"/>
          <p:cNvCxnSpPr/>
          <p:nvPr/>
        </p:nvCxnSpPr>
        <p:spPr>
          <a:xfrm>
            <a:off x="777240" y="2432304"/>
            <a:ext cx="2962656"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777240" y="2788920"/>
            <a:ext cx="2999232" cy="207568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CC, NRMSE và LLE giữ hướng.</a:t>
            </a:r>
          </a:p>
          <a:p>
            <a:pPr algn="l">
              <a:lnSpc>
                <a:spcPct val="103000"/>
              </a:lnSpc>
              <a:spcBef>
                <a:spcPts val="0"/>
              </a:spcBef>
              <a:spcAft>
                <a:spcPts val="300"/>
              </a:spcAft>
            </a:pPr>
            <a:r>
              <a:rPr sz="2400" b="0" i="0">
                <a:solidFill>
                  <a:srgbClr val="171717"/>
                </a:solidFill>
                <a:latin typeface="Times New Roman"/>
                <a:ea typeface="Times New Roman"/>
                <a:cs typeface="Times New Roman"/>
              </a:rPr>
              <a:t>DET nhạy hơn với độ trễ.</a:t>
            </a:r>
          </a:p>
        </p:txBody>
      </p:sp>
      <p:sp>
        <p:nvSpPr>
          <p:cNvPr id="8" name="TextBox 7"/>
          <p:cNvSpPr txBox="1"/>
          <p:nvPr/>
        </p:nvSpPr>
        <p:spPr>
          <a:xfrm>
            <a:off x="4654296" y="1581912"/>
            <a:ext cx="3063240" cy="804672"/>
          </a:xfrm>
          <a:prstGeom prst="rect">
            <a:avLst/>
          </a:prstGeom>
          <a:noFill/>
          <a:effectLst/>
        </p:spPr>
        <p:txBody>
          <a:bodyPr wrap="square" lIns="0" rIns="0" tIns="0" bIns="0">
            <a:spAutoFit/>
          </a:bodyPr>
          <a:lstStyle/>
          <a:p>
            <a:pPr algn="l">
              <a:lnSpc>
                <a:spcPct val="103000"/>
              </a:lnSpc>
              <a:spcBef>
                <a:spcPts val="0"/>
              </a:spcBef>
              <a:spcAft>
                <a:spcPts val="300"/>
              </a:spcAft>
            </a:pPr>
            <a:r>
              <a:rPr sz="2800" b="1" i="0">
                <a:solidFill>
                  <a:srgbClr val="1F77B4"/>
                </a:solidFill>
                <a:latin typeface="Times New Roman"/>
                <a:ea typeface="Times New Roman"/>
                <a:cs typeface="Times New Roman"/>
              </a:rPr>
              <a:t>Độ lớn hiệu ứng</a:t>
            </a:r>
          </a:p>
        </p:txBody>
      </p:sp>
      <p:cxnSp>
        <p:nvCxnSpPr>
          <p:cNvPr id="9" name="Connector 8"/>
          <p:cNvCxnSpPr/>
          <p:nvPr/>
        </p:nvCxnSpPr>
        <p:spPr>
          <a:xfrm>
            <a:off x="4654296" y="2432304"/>
            <a:ext cx="2962656"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4654296" y="2788920"/>
            <a:ext cx="2999232" cy="207568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Độ lớn hiệu ứng có thể thay đổi dù hướng được giữ.</a:t>
            </a:r>
          </a:p>
        </p:txBody>
      </p:sp>
      <p:sp>
        <p:nvSpPr>
          <p:cNvPr id="11" name="TextBox 10"/>
          <p:cNvSpPr txBox="1"/>
          <p:nvPr/>
        </p:nvSpPr>
        <p:spPr>
          <a:xfrm>
            <a:off x="8503920" y="1581912"/>
            <a:ext cx="3063240" cy="804672"/>
          </a:xfrm>
          <a:prstGeom prst="rect">
            <a:avLst/>
          </a:prstGeom>
          <a:noFill/>
          <a:effectLst/>
        </p:spPr>
        <p:txBody>
          <a:bodyPr wrap="square" lIns="0" rIns="0" tIns="0" bIns="0">
            <a:spAutoFit/>
          </a:bodyPr>
          <a:lstStyle/>
          <a:p>
            <a:pPr algn="l">
              <a:lnSpc>
                <a:spcPct val="103000"/>
              </a:lnSpc>
              <a:spcBef>
                <a:spcPts val="0"/>
              </a:spcBef>
              <a:spcAft>
                <a:spcPts val="300"/>
              </a:spcAft>
            </a:pPr>
            <a:r>
              <a:rPr sz="2800" b="1" i="0">
                <a:solidFill>
                  <a:srgbClr val="1F77B4"/>
                </a:solidFill>
                <a:latin typeface="Times New Roman"/>
                <a:ea typeface="Times New Roman"/>
                <a:cs typeface="Times New Roman"/>
              </a:rPr>
              <a:t>Hỗ trợ thống kê</a:t>
            </a:r>
          </a:p>
        </p:txBody>
      </p:sp>
      <p:cxnSp>
        <p:nvCxnSpPr>
          <p:cNvPr id="12" name="Connector 11"/>
          <p:cNvCxnSpPr/>
          <p:nvPr/>
        </p:nvCxnSpPr>
        <p:spPr>
          <a:xfrm>
            <a:off x="8503920" y="2432304"/>
            <a:ext cx="2962656"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503920" y="2788920"/>
            <a:ext cx="2999232" cy="2075688"/>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CI và p/q có thể thay đổi.</a:t>
            </a:r>
          </a:p>
          <a:p>
            <a:pPr algn="l">
              <a:lnSpc>
                <a:spcPct val="103000"/>
              </a:lnSpc>
              <a:spcBef>
                <a:spcPts val="0"/>
              </a:spcBef>
              <a:spcAft>
                <a:spcPts val="300"/>
              </a:spcAft>
            </a:pPr>
            <a:r>
              <a:rPr sz="2400" b="0" i="0">
                <a:solidFill>
                  <a:srgbClr val="171717"/>
                </a:solidFill>
                <a:latin typeface="Times New Roman"/>
                <a:ea typeface="Times New Roman"/>
                <a:cs typeface="Times New Roman"/>
              </a:rPr>
              <a:t>Ghép phiên giả định làm suy luận kém ổn định hơn.</a:t>
            </a:r>
          </a:p>
        </p:txBody>
      </p:sp>
      <p:sp>
        <p:nvSpPr>
          <p:cNvPr id="14" name="TextBox 13"/>
          <p:cNvSpPr txBox="1"/>
          <p:nvPr/>
        </p:nvSpPr>
        <p:spPr>
          <a:xfrm>
            <a:off x="804672" y="5294376"/>
            <a:ext cx="10588752" cy="438912"/>
          </a:xfrm>
          <a:prstGeom prst="rect">
            <a:avLst/>
          </a:prstGeom>
          <a:noFill/>
          <a:effectLst/>
        </p:spPr>
        <p:txBody>
          <a:bodyPr wrap="square" lIns="0" rIns="0" tIns="0" bIns="0">
            <a:spAutoFit/>
          </a:bodyPr>
          <a:lstStyle/>
          <a:p>
            <a:pPr algn="ctr">
              <a:lnSpc>
                <a:spcPct val="103000"/>
              </a:lnSpc>
              <a:spcBef>
                <a:spcPts val="0"/>
              </a:spcBef>
              <a:spcAft>
                <a:spcPts val="300"/>
              </a:spcAft>
            </a:pPr>
            <a:r>
              <a:rPr sz="2500" b="1" i="0">
                <a:solidFill>
                  <a:srgbClr val="171717"/>
                </a:solidFill>
                <a:latin typeface="Times New Roman"/>
                <a:ea typeface="Times New Roman"/>
                <a:cs typeface="Times New Roman"/>
              </a:rPr>
              <a:t>Robustness không có nghĩa mọi con số đều giống nhau ở mọi thiết lập.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400" b="0" i="1">
                <a:solidFill>
                  <a:srgbClr val="777777"/>
                </a:solidFill>
                <a:latin typeface="Times New Roman"/>
                <a:ea typeface="Times New Roman"/>
                <a:cs typeface="Times New Roman"/>
              </a:rPr>
              <a:t>Vì sao khả năng dự báo giảm nhưng LLE cũng giảm?</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Hai phương pháp đo hai thuộc tính khác nhau, nên hai kết quả giảm không mâu thuẫn.</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15</a:t>
            </a:r>
          </a:p>
        </p:txBody>
      </p:sp>
      <p:sp>
        <p:nvSpPr>
          <p:cNvPr id="5" name="TextBox 4"/>
          <p:cNvSpPr txBox="1"/>
          <p:nvPr/>
        </p:nvSpPr>
        <p:spPr>
          <a:xfrm>
            <a:off x="795528" y="1444752"/>
            <a:ext cx="5010912" cy="429768"/>
          </a:xfrm>
          <a:prstGeom prst="rect">
            <a:avLst/>
          </a:prstGeom>
          <a:noFill/>
          <a:effectLst/>
        </p:spPr>
        <p:txBody>
          <a:bodyPr wrap="square" lIns="0" rIns="0" tIns="0" bIns="0">
            <a:spAutoFit/>
          </a:bodyPr>
          <a:lstStyle/>
          <a:p>
            <a:pPr algn="l">
              <a:lnSpc>
                <a:spcPct val="103000"/>
              </a:lnSpc>
              <a:spcBef>
                <a:spcPts val="0"/>
              </a:spcBef>
              <a:spcAft>
                <a:spcPts val="300"/>
              </a:spcAft>
            </a:pPr>
            <a:r>
              <a:rPr sz="2900" b="1" i="0">
                <a:solidFill>
                  <a:srgbClr val="1F77B4"/>
                </a:solidFill>
                <a:latin typeface="Times New Roman"/>
                <a:ea typeface="Times New Roman"/>
                <a:cs typeface="Times New Roman"/>
              </a:rPr>
              <a:t>Simplex Projection</a:t>
            </a:r>
          </a:p>
        </p:txBody>
      </p:sp>
      <p:sp>
        <p:nvSpPr>
          <p:cNvPr id="6" name="TextBox 5"/>
          <p:cNvSpPr txBox="1"/>
          <p:nvPr/>
        </p:nvSpPr>
        <p:spPr>
          <a:xfrm>
            <a:off x="6510528" y="1444752"/>
            <a:ext cx="4818888" cy="429768"/>
          </a:xfrm>
          <a:prstGeom prst="rect">
            <a:avLst/>
          </a:prstGeom>
          <a:noFill/>
          <a:effectLst/>
        </p:spPr>
        <p:txBody>
          <a:bodyPr wrap="square" lIns="0" rIns="0" tIns="0" bIns="0">
            <a:spAutoFit/>
          </a:bodyPr>
          <a:lstStyle/>
          <a:p>
            <a:pPr algn="l">
              <a:lnSpc>
                <a:spcPct val="103000"/>
              </a:lnSpc>
              <a:spcBef>
                <a:spcPts val="0"/>
              </a:spcBef>
              <a:spcAft>
                <a:spcPts val="300"/>
              </a:spcAft>
            </a:pPr>
            <a:r>
              <a:rPr sz="2900" b="1" i="0">
                <a:solidFill>
                  <a:srgbClr val="1F77B4"/>
                </a:solidFill>
                <a:latin typeface="Times New Roman"/>
                <a:ea typeface="Times New Roman"/>
                <a:cs typeface="Times New Roman"/>
              </a:rPr>
              <a:t>Rosenstein LLE</a:t>
            </a:r>
          </a:p>
        </p:txBody>
      </p:sp>
      <p:cxnSp>
        <p:nvCxnSpPr>
          <p:cNvPr id="7" name="Connector 6"/>
          <p:cNvCxnSpPr/>
          <p:nvPr/>
        </p:nvCxnSpPr>
        <p:spPr>
          <a:xfrm>
            <a:off x="795528" y="2002536"/>
            <a:ext cx="4864608"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cxnSp>
        <p:nvCxnSpPr>
          <p:cNvPr id="8" name="Connector 7"/>
          <p:cNvCxnSpPr/>
          <p:nvPr/>
        </p:nvCxnSpPr>
        <p:spPr>
          <a:xfrm>
            <a:off x="6510528" y="2002536"/>
            <a:ext cx="4828032"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795528" y="2377440"/>
            <a:ext cx="4928616" cy="1609344"/>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Dùng các trạng thái lân cận để dự báo.</a:t>
            </a:r>
          </a:p>
          <a:p>
            <a:pPr algn="l">
              <a:lnSpc>
                <a:spcPct val="103000"/>
              </a:lnSpc>
              <a:spcBef>
                <a:spcPts val="0"/>
              </a:spcBef>
              <a:spcAft>
                <a:spcPts val="300"/>
              </a:spcAft>
            </a:pPr>
            <a:r>
              <a:rPr sz="2400" b="0" i="0">
                <a:solidFill>
                  <a:srgbClr val="171717"/>
                </a:solidFill>
                <a:latin typeface="Times New Roman"/>
                <a:ea typeface="Times New Roman"/>
                <a:cs typeface="Times New Roman"/>
              </a:rPr>
              <a:t>So sánh quỹ đạo dự báo với quan sát.</a:t>
            </a:r>
          </a:p>
          <a:p>
            <a:pPr algn="l">
              <a:lnSpc>
                <a:spcPct val="103000"/>
              </a:lnSpc>
              <a:spcBef>
                <a:spcPts val="0"/>
              </a:spcBef>
              <a:spcAft>
                <a:spcPts val="300"/>
              </a:spcAft>
            </a:pPr>
            <a:r>
              <a:rPr sz="2400" b="0" i="0">
                <a:solidFill>
                  <a:srgbClr val="171717"/>
                </a:solidFill>
                <a:latin typeface="Times New Roman"/>
                <a:ea typeface="Times New Roman"/>
                <a:cs typeface="Times New Roman"/>
              </a:rPr>
              <a:t>18 khoảng dự báo: 0.04–4.00 s.</a:t>
            </a:r>
          </a:p>
        </p:txBody>
      </p:sp>
      <p:sp>
        <p:nvSpPr>
          <p:cNvPr id="10" name="TextBox 9"/>
          <p:cNvSpPr txBox="1"/>
          <p:nvPr/>
        </p:nvSpPr>
        <p:spPr>
          <a:xfrm>
            <a:off x="6510528" y="2377440"/>
            <a:ext cx="4818888" cy="1609344"/>
          </a:xfrm>
          <a:prstGeom prst="rect">
            <a:avLst/>
          </a:prstGeom>
          <a:noFill/>
          <a:effectLst/>
        </p:spPr>
        <p:txBody>
          <a:bodyPr wrap="square" lIns="0" rIns="0" tIns="0" bIns="0">
            <a:spAutoFit/>
          </a:bodyPr>
          <a:lstStyle/>
          <a:p>
            <a:pPr algn="l">
              <a:lnSpc>
                <a:spcPct val="103000"/>
              </a:lnSpc>
              <a:spcBef>
                <a:spcPts val="0"/>
              </a:spcBef>
              <a:spcAft>
                <a:spcPts val="300"/>
              </a:spcAft>
            </a:pPr>
            <a:r>
              <a:rPr sz="2400" b="0" i="0">
                <a:solidFill>
                  <a:srgbClr val="171717"/>
                </a:solidFill>
                <a:latin typeface="Times New Roman"/>
                <a:ea typeface="Times New Roman"/>
                <a:cs typeface="Times New Roman"/>
              </a:rPr>
              <a:t>Ước lượng local trajectory divergence</a:t>
            </a:r>
          </a:p>
          <a:p>
            <a:pPr algn="l">
              <a:lnSpc>
                <a:spcPct val="103000"/>
              </a:lnSpc>
              <a:spcBef>
                <a:spcPts val="0"/>
              </a:spcBef>
              <a:spcAft>
                <a:spcPts val="300"/>
              </a:spcAft>
            </a:pPr>
            <a:r>
              <a:rPr sz="2400" b="0" i="0">
                <a:solidFill>
                  <a:srgbClr val="171717"/>
                </a:solidFill>
                <a:latin typeface="Times New Roman"/>
                <a:ea typeface="Times New Roman"/>
                <a:cs typeface="Times New Roman"/>
              </a:rPr>
              <a:t>(độ phân kỳ cục bộ của quỹ đạo).</a:t>
            </a:r>
          </a:p>
          <a:p>
            <a:pPr algn="l">
              <a:lnSpc>
                <a:spcPct val="103000"/>
              </a:lnSpc>
              <a:spcBef>
                <a:spcPts val="0"/>
              </a:spcBef>
              <a:spcAft>
                <a:spcPts val="300"/>
              </a:spcAft>
            </a:pPr>
            <a:r>
              <a:rPr sz="2400" b="0" i="0">
                <a:solidFill>
                  <a:srgbClr val="171717"/>
                </a:solidFill>
                <a:latin typeface="Times New Roman"/>
                <a:ea typeface="Times New Roman"/>
                <a:cs typeface="Times New Roman"/>
              </a:rPr>
              <a:t>Khoảng fit: 0.80–1.30 s.</a:t>
            </a:r>
          </a:p>
        </p:txBody>
      </p:sp>
      <p:sp>
        <p:nvSpPr>
          <p:cNvPr id="11" name="TextBox 10"/>
          <p:cNvSpPr txBox="1"/>
          <p:nvPr/>
        </p:nvSpPr>
        <p:spPr>
          <a:xfrm>
            <a:off x="795528" y="4407408"/>
            <a:ext cx="4946904" cy="722376"/>
          </a:xfrm>
          <a:prstGeom prst="rect">
            <a:avLst/>
          </a:prstGeom>
          <a:noFill/>
          <a:effectLst/>
        </p:spPr>
        <p:txBody>
          <a:bodyPr wrap="square" lIns="0" rIns="0" tIns="0" bIns="0">
            <a:spAutoFit/>
          </a:bodyPr>
          <a:lstStyle/>
          <a:p>
            <a:pPr algn="l">
              <a:lnSpc>
                <a:spcPct val="103000"/>
              </a:lnSpc>
              <a:spcBef>
                <a:spcPts val="0"/>
              </a:spcBef>
              <a:spcAft>
                <a:spcPts val="300"/>
              </a:spcAft>
            </a:pPr>
            <a:r>
              <a:rPr sz="2500" b="1" i="0">
                <a:solidFill>
                  <a:srgbClr val="171717"/>
                </a:solidFill>
                <a:latin typeface="Times New Roman"/>
                <a:ea typeface="Times New Roman"/>
                <a:cs typeface="Times New Roman"/>
              </a:rPr>
              <a:t>CC ↓ và NRMSE ↑</a:t>
            </a:r>
          </a:p>
          <a:p>
            <a:pPr algn="l">
              <a:lnSpc>
                <a:spcPct val="103000"/>
              </a:lnSpc>
              <a:spcBef>
                <a:spcPts val="0"/>
              </a:spcBef>
              <a:spcAft>
                <a:spcPts val="300"/>
              </a:spcAft>
            </a:pPr>
            <a:r>
              <a:rPr sz="2500" b="1" i="0">
                <a:solidFill>
                  <a:srgbClr val="171717"/>
                </a:solidFill>
                <a:latin typeface="Times New Roman"/>
                <a:ea typeface="Times New Roman"/>
                <a:cs typeface="Times New Roman"/>
              </a:rPr>
              <a:t>→ dự báo hữu hạn kém hơn.</a:t>
            </a:r>
          </a:p>
        </p:txBody>
      </p:sp>
      <p:sp>
        <p:nvSpPr>
          <p:cNvPr id="12" name="TextBox 11"/>
          <p:cNvSpPr txBox="1"/>
          <p:nvPr/>
        </p:nvSpPr>
        <p:spPr>
          <a:xfrm>
            <a:off x="6510528" y="4407408"/>
            <a:ext cx="4809744" cy="722376"/>
          </a:xfrm>
          <a:prstGeom prst="rect">
            <a:avLst/>
          </a:prstGeom>
          <a:noFill/>
          <a:effectLst/>
        </p:spPr>
        <p:txBody>
          <a:bodyPr wrap="square" lIns="0" rIns="0" tIns="0" bIns="0">
            <a:spAutoFit/>
          </a:bodyPr>
          <a:lstStyle/>
          <a:p>
            <a:pPr algn="l">
              <a:lnSpc>
                <a:spcPct val="103000"/>
              </a:lnSpc>
              <a:spcBef>
                <a:spcPts val="0"/>
              </a:spcBef>
              <a:spcAft>
                <a:spcPts val="300"/>
              </a:spcAft>
            </a:pPr>
            <a:r>
              <a:rPr sz="2400" b="1" i="0">
                <a:solidFill>
                  <a:srgbClr val="171717"/>
                </a:solidFill>
                <a:latin typeface="Times New Roman"/>
                <a:ea typeface="Times New Roman"/>
                <a:cs typeface="Times New Roman"/>
              </a:rPr>
              <a:t>LLE ↓</a:t>
            </a:r>
          </a:p>
          <a:p>
            <a:pPr algn="l">
              <a:lnSpc>
                <a:spcPct val="103000"/>
              </a:lnSpc>
              <a:spcBef>
                <a:spcPts val="0"/>
              </a:spcBef>
              <a:spcAft>
                <a:spcPts val="300"/>
              </a:spcAft>
            </a:pPr>
            <a:r>
              <a:rPr sz="2400" b="1" i="0">
                <a:solidFill>
                  <a:srgbClr val="171717"/>
                </a:solidFill>
                <a:latin typeface="Times New Roman"/>
                <a:ea typeface="Times New Roman"/>
                <a:cs typeface="Times New Roman"/>
              </a:rPr>
              <a:t>→ phân kỳ cục bộ ước lượng chậm hơn.</a:t>
            </a:r>
          </a:p>
        </p:txBody>
      </p:sp>
      <p:sp>
        <p:nvSpPr>
          <p:cNvPr id="13" name="TextBox 12"/>
          <p:cNvSpPr txBox="1"/>
          <p:nvPr/>
        </p:nvSpPr>
        <p:spPr>
          <a:xfrm>
            <a:off x="859536" y="5522976"/>
            <a:ext cx="10524744" cy="402336"/>
          </a:xfrm>
          <a:prstGeom prst="rect">
            <a:avLst/>
          </a:prstGeom>
          <a:noFill/>
          <a:effectLst/>
        </p:spPr>
        <p:txBody>
          <a:bodyPr wrap="square" lIns="0" rIns="0" tIns="0" bIns="0">
            <a:spAutoFit/>
          </a:bodyPr>
          <a:lstStyle/>
          <a:p>
            <a:pPr algn="ctr">
              <a:lnSpc>
                <a:spcPct val="103000"/>
              </a:lnSpc>
              <a:spcBef>
                <a:spcPts val="0"/>
              </a:spcBef>
              <a:spcAft>
                <a:spcPts val="300"/>
              </a:spcAft>
            </a:pPr>
            <a:r>
              <a:rPr sz="2500" b="1" i="0">
                <a:solidFill>
                  <a:srgbClr val="171717"/>
                </a:solidFill>
                <a:latin typeface="Times New Roman"/>
                <a:ea typeface="Times New Roman"/>
                <a:cs typeface="Times New Roman"/>
              </a:rPr>
              <a:t>Hai đại lượng đích (estimands) khác nhau.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85216" y="347472"/>
            <a:ext cx="11009376" cy="749808"/>
          </a:xfrm>
          <a:prstGeom prst="rect">
            <a:avLst/>
          </a:prstGeom>
          <a:noFill/>
          <a:effectLst/>
        </p:spPr>
        <p:txBody>
          <a:bodyPr wrap="square" lIns="0" rIns="0" tIns="0" bIns="0">
            <a:spAutoFit/>
          </a:bodyPr>
          <a:lstStyle/>
          <a:p>
            <a:pPr algn="l">
              <a:lnSpc>
                <a:spcPct val="103000"/>
              </a:lnSpc>
              <a:spcBef>
                <a:spcPts val="0"/>
              </a:spcBef>
              <a:spcAft>
                <a:spcPts val="300"/>
              </a:spcAft>
            </a:pPr>
            <a:r>
              <a:rPr sz="3700" b="0" i="1">
                <a:solidFill>
                  <a:srgbClr val="777777"/>
                </a:solidFill>
                <a:latin typeface="Times New Roman"/>
                <a:ea typeface="Times New Roman"/>
                <a:cs typeface="Times New Roman"/>
              </a:rPr>
              <a:t>Cách diễn giải cuối cùng</a:t>
            </a:r>
          </a:p>
        </p:txBody>
      </p:sp>
      <p:sp>
        <p:nvSpPr>
          <p:cNvPr id="3" name="TextBox 2"/>
          <p:cNvSpPr txBox="1"/>
          <p:nvPr/>
        </p:nvSpPr>
        <p:spPr>
          <a:xfrm>
            <a:off x="603504" y="6208776"/>
            <a:ext cx="10954512" cy="576072"/>
          </a:xfrm>
          <a:prstGeom prst="rect">
            <a:avLst/>
          </a:prstGeom>
          <a:noFill/>
          <a:effectLst/>
        </p:spPr>
        <p:txBody>
          <a:bodyPr wrap="square" lIns="0" rIns="0" tIns="0" bIns="0">
            <a:spAutoFit/>
          </a:bodyPr>
          <a:lstStyle/>
          <a:p>
            <a:pPr algn="ctr">
              <a:lnSpc>
                <a:spcPct val="103000"/>
              </a:lnSpc>
              <a:spcBef>
                <a:spcPts val="0"/>
              </a:spcBef>
              <a:spcAft>
                <a:spcPts val="0"/>
              </a:spcAft>
            </a:pPr>
            <a:r>
              <a:rPr sz="2100" b="1" i="0">
                <a:solidFill>
                  <a:srgbClr val="171717"/>
                </a:solidFill>
                <a:latin typeface="Times New Roman"/>
                <a:ea typeface="Times New Roman"/>
                <a:cs typeface="Times New Roman"/>
              </a:rPr>
              <a:t>Takeaway: </a:t>
            </a:r>
            <a:r>
              <a:rPr sz="2100" b="0" i="0">
                <a:solidFill>
                  <a:srgbClr val="171717"/>
                </a:solidFill>
                <a:latin typeface="Times New Roman"/>
                <a:ea typeface="Times New Roman"/>
                <a:cs typeface="Times New Roman"/>
              </a:rPr>
              <a:t>Buồn ngủ gắn với thay đổi ở nhiều thuộc tính động lực học bổ sung cho nhau.</a:t>
            </a:r>
          </a:p>
        </p:txBody>
      </p:sp>
      <p:sp>
        <p:nvSpPr>
          <p:cNvPr id="4" name="TextBox 3"/>
          <p:cNvSpPr txBox="1"/>
          <p:nvPr/>
        </p:nvSpPr>
        <p:spPr>
          <a:xfrm>
            <a:off x="11704320" y="6583680"/>
            <a:ext cx="274320" cy="219456"/>
          </a:xfrm>
          <a:prstGeom prst="rect">
            <a:avLst/>
          </a:prstGeom>
          <a:noFill/>
          <a:effectLst/>
        </p:spPr>
        <p:txBody>
          <a:bodyPr wrap="square" lIns="0" rIns="0" tIns="0" bIns="0">
            <a:spAutoFit/>
          </a:bodyPr>
          <a:lstStyle/>
          <a:p>
            <a:pPr algn="r">
              <a:lnSpc>
                <a:spcPct val="103000"/>
              </a:lnSpc>
              <a:spcBef>
                <a:spcPts val="0"/>
              </a:spcBef>
              <a:spcAft>
                <a:spcPts val="300"/>
              </a:spcAft>
            </a:pPr>
            <a:r>
              <a:rPr sz="1200" b="0" i="0">
                <a:solidFill>
                  <a:srgbClr val="171717"/>
                </a:solidFill>
                <a:latin typeface="Times New Roman"/>
                <a:ea typeface="Times New Roman"/>
                <a:cs typeface="Times New Roman"/>
              </a:rPr>
              <a:t>16</a:t>
            </a:r>
          </a:p>
        </p:txBody>
      </p:sp>
      <p:sp>
        <p:nvSpPr>
          <p:cNvPr id="5" name="TextBox 4"/>
          <p:cNvSpPr txBox="1"/>
          <p:nvPr/>
        </p:nvSpPr>
        <p:spPr>
          <a:xfrm>
            <a:off x="786384" y="1481328"/>
            <a:ext cx="3008376" cy="1234440"/>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F77B4"/>
                </a:solidFill>
                <a:latin typeface="Times New Roman"/>
                <a:ea typeface="Times New Roman"/>
                <a:cs typeface="Times New Roman"/>
              </a:rPr>
              <a:t>Khả năng dự báo</a:t>
            </a:r>
          </a:p>
          <a:p>
            <a:pPr algn="l">
              <a:lnSpc>
                <a:spcPct val="103000"/>
              </a:lnSpc>
              <a:spcBef>
                <a:spcPts val="0"/>
              </a:spcBef>
              <a:spcAft>
                <a:spcPts val="300"/>
              </a:spcAft>
            </a:pPr>
            <a:r>
              <a:rPr sz="2700" b="1" i="0">
                <a:solidFill>
                  <a:srgbClr val="1F77B4"/>
                </a:solidFill>
                <a:latin typeface="Times New Roman"/>
                <a:ea typeface="Times New Roman"/>
                <a:cs typeface="Times New Roman"/>
              </a:rPr>
              <a:t>hữu hạn giảm</a:t>
            </a:r>
          </a:p>
        </p:txBody>
      </p:sp>
      <p:cxnSp>
        <p:nvCxnSpPr>
          <p:cNvPr id="6" name="Connector 5"/>
          <p:cNvCxnSpPr/>
          <p:nvPr/>
        </p:nvCxnSpPr>
        <p:spPr>
          <a:xfrm>
            <a:off x="786384" y="2834640"/>
            <a:ext cx="2971800"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786384" y="3163824"/>
            <a:ext cx="2999232" cy="1234440"/>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Mean CC ↓, Mean NRMSE ↑</a:t>
            </a:r>
          </a:p>
        </p:txBody>
      </p:sp>
      <p:sp>
        <p:nvSpPr>
          <p:cNvPr id="8" name="TextBox 7"/>
          <p:cNvSpPr txBox="1"/>
          <p:nvPr/>
        </p:nvSpPr>
        <p:spPr>
          <a:xfrm>
            <a:off x="4663440" y="1481328"/>
            <a:ext cx="3008376" cy="1234440"/>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F77B4"/>
                </a:solidFill>
                <a:latin typeface="Times New Roman"/>
                <a:ea typeface="Times New Roman"/>
                <a:cs typeface="Times New Roman"/>
              </a:rPr>
              <a:t>Tổ chức lặp lại</a:t>
            </a:r>
          </a:p>
          <a:p>
            <a:pPr algn="l">
              <a:lnSpc>
                <a:spcPct val="103000"/>
              </a:lnSpc>
              <a:spcBef>
                <a:spcPts val="0"/>
              </a:spcBef>
              <a:spcAft>
                <a:spcPts val="300"/>
              </a:spcAft>
            </a:pPr>
            <a:r>
              <a:rPr sz="2700" b="1" i="0">
                <a:solidFill>
                  <a:srgbClr val="1F77B4"/>
                </a:solidFill>
                <a:latin typeface="Times New Roman"/>
                <a:ea typeface="Times New Roman"/>
                <a:cs typeface="Times New Roman"/>
              </a:rPr>
              <a:t>theo đường chéo giảm</a:t>
            </a:r>
          </a:p>
        </p:txBody>
      </p:sp>
      <p:cxnSp>
        <p:nvCxnSpPr>
          <p:cNvPr id="9" name="Connector 8"/>
          <p:cNvCxnSpPr/>
          <p:nvPr/>
        </p:nvCxnSpPr>
        <p:spPr>
          <a:xfrm>
            <a:off x="4663440" y="2834640"/>
            <a:ext cx="2971800"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4663440" y="3163824"/>
            <a:ext cx="2999232" cy="1234440"/>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DET ↓ dưới tái dựng danh định</a:t>
            </a:r>
          </a:p>
          <a:p>
            <a:pPr algn="l">
              <a:lnSpc>
                <a:spcPct val="103000"/>
              </a:lnSpc>
              <a:spcBef>
                <a:spcPts val="0"/>
              </a:spcBef>
              <a:spcAft>
                <a:spcPts val="300"/>
              </a:spcAft>
            </a:pPr>
            <a:r>
              <a:rPr sz="2300" b="0" i="0">
                <a:solidFill>
                  <a:srgbClr val="171717"/>
                </a:solidFill>
                <a:latin typeface="Times New Roman"/>
                <a:ea typeface="Times New Roman"/>
                <a:cs typeface="Times New Roman"/>
              </a:rPr>
              <a:t>τ = 0.16 s, m = 8.</a:t>
            </a:r>
          </a:p>
        </p:txBody>
      </p:sp>
      <p:sp>
        <p:nvSpPr>
          <p:cNvPr id="11" name="TextBox 10"/>
          <p:cNvSpPr txBox="1"/>
          <p:nvPr/>
        </p:nvSpPr>
        <p:spPr>
          <a:xfrm>
            <a:off x="8531352" y="1481328"/>
            <a:ext cx="3008376" cy="1234440"/>
          </a:xfrm>
          <a:prstGeom prst="rect">
            <a:avLst/>
          </a:prstGeom>
          <a:noFill/>
          <a:effectLst/>
        </p:spPr>
        <p:txBody>
          <a:bodyPr wrap="square" lIns="0" rIns="0" tIns="0" bIns="0">
            <a:spAutoFit/>
          </a:bodyPr>
          <a:lstStyle/>
          <a:p>
            <a:pPr algn="l">
              <a:lnSpc>
                <a:spcPct val="103000"/>
              </a:lnSpc>
              <a:spcBef>
                <a:spcPts val="0"/>
              </a:spcBef>
              <a:spcAft>
                <a:spcPts val="300"/>
              </a:spcAft>
            </a:pPr>
            <a:r>
              <a:rPr sz="2700" b="1" i="0">
                <a:solidFill>
                  <a:srgbClr val="1F77B4"/>
                </a:solidFill>
                <a:latin typeface="Times New Roman"/>
                <a:ea typeface="Times New Roman"/>
                <a:cs typeface="Times New Roman"/>
              </a:rPr>
              <a:t>Độ phân kỳ cục bộ</a:t>
            </a:r>
          </a:p>
          <a:p>
            <a:pPr algn="l">
              <a:lnSpc>
                <a:spcPct val="103000"/>
              </a:lnSpc>
              <a:spcBef>
                <a:spcPts val="0"/>
              </a:spcBef>
              <a:spcAft>
                <a:spcPts val="300"/>
              </a:spcAft>
            </a:pPr>
            <a:r>
              <a:rPr sz="2700" b="1" i="0">
                <a:solidFill>
                  <a:srgbClr val="1F77B4"/>
                </a:solidFill>
                <a:latin typeface="Times New Roman"/>
                <a:ea typeface="Times New Roman"/>
                <a:cs typeface="Times New Roman"/>
              </a:rPr>
              <a:t>ước lượng giảm</a:t>
            </a:r>
          </a:p>
        </p:txBody>
      </p:sp>
      <p:cxnSp>
        <p:nvCxnSpPr>
          <p:cNvPr id="12" name="Connector 11"/>
          <p:cNvCxnSpPr/>
          <p:nvPr/>
        </p:nvCxnSpPr>
        <p:spPr>
          <a:xfrm>
            <a:off x="8531352" y="2834640"/>
            <a:ext cx="2971800" cy="0"/>
          </a:xfrm>
          <a:prstGeom prst="line">
            <a:avLst/>
          </a:prstGeom>
          <a:ln w="12700">
            <a:solidFill>
              <a:srgbClr val="CCCCC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531352" y="3163824"/>
            <a:ext cx="2999232" cy="1234440"/>
          </a:xfrm>
          <a:prstGeom prst="rect">
            <a:avLst/>
          </a:prstGeom>
          <a:noFill/>
          <a:effectLst/>
        </p:spPr>
        <p:txBody>
          <a:bodyPr wrap="square" lIns="0" rIns="0" tIns="0" bIns="0">
            <a:spAutoFit/>
          </a:bodyPr>
          <a:lstStyle/>
          <a:p>
            <a:pPr algn="l">
              <a:lnSpc>
                <a:spcPct val="103000"/>
              </a:lnSpc>
              <a:spcBef>
                <a:spcPts val="0"/>
              </a:spcBef>
              <a:spcAft>
                <a:spcPts val="300"/>
              </a:spcAft>
            </a:pPr>
            <a:r>
              <a:rPr sz="2300" b="0" i="0">
                <a:solidFill>
                  <a:srgbClr val="171717"/>
                </a:solidFill>
                <a:latin typeface="Times New Roman"/>
                <a:ea typeface="Times New Roman"/>
                <a:cs typeface="Times New Roman"/>
              </a:rPr>
              <a:t>LLE ↓ trong khoảng fit</a:t>
            </a:r>
          </a:p>
          <a:p>
            <a:pPr algn="l">
              <a:lnSpc>
                <a:spcPct val="103000"/>
              </a:lnSpc>
              <a:spcBef>
                <a:spcPts val="0"/>
              </a:spcBef>
              <a:spcAft>
                <a:spcPts val="300"/>
              </a:spcAft>
            </a:pPr>
            <a:r>
              <a:rPr sz="2300" b="0" i="0">
                <a:solidFill>
                  <a:srgbClr val="171717"/>
                </a:solidFill>
                <a:latin typeface="Times New Roman"/>
                <a:ea typeface="Times New Roman"/>
                <a:cs typeface="Times New Roman"/>
              </a:rPr>
              <a:t>0.80–1.30 s.</a:t>
            </a:r>
          </a:p>
        </p:txBody>
      </p:sp>
      <p:sp>
        <p:nvSpPr>
          <p:cNvPr id="14" name="TextBox 13"/>
          <p:cNvSpPr txBox="1"/>
          <p:nvPr/>
        </p:nvSpPr>
        <p:spPr>
          <a:xfrm>
            <a:off x="804672" y="4608576"/>
            <a:ext cx="10671048" cy="457200"/>
          </a:xfrm>
          <a:prstGeom prst="rect">
            <a:avLst/>
          </a:prstGeom>
          <a:noFill/>
          <a:effectLst/>
        </p:spPr>
        <p:txBody>
          <a:bodyPr wrap="square" lIns="0" rIns="0" tIns="0" bIns="0">
            <a:spAutoFit/>
          </a:bodyPr>
          <a:lstStyle/>
          <a:p>
            <a:pPr algn="ctr">
              <a:lnSpc>
                <a:spcPct val="103000"/>
              </a:lnSpc>
              <a:spcBef>
                <a:spcPts val="0"/>
              </a:spcBef>
              <a:spcAft>
                <a:spcPts val="300"/>
              </a:spcAft>
            </a:pPr>
            <a:r>
              <a:rPr sz="2500" b="1" i="0">
                <a:solidFill>
                  <a:srgbClr val="171717"/>
                </a:solidFill>
                <a:latin typeface="Times New Roman"/>
                <a:ea typeface="Times New Roman"/>
                <a:cs typeface="Times New Roman"/>
              </a:rPr>
              <a:t>Không gộp các kết quả thành một thang hỗn loạn duy nhất.</a:t>
            </a:r>
          </a:p>
        </p:txBody>
      </p:sp>
      <p:sp>
        <p:nvSpPr>
          <p:cNvPr id="15" name="TextBox 14"/>
          <p:cNvSpPr txBox="1"/>
          <p:nvPr/>
        </p:nvSpPr>
        <p:spPr>
          <a:xfrm>
            <a:off x="1033271" y="5340096"/>
            <a:ext cx="10168128" cy="630936"/>
          </a:xfrm>
          <a:prstGeom prst="rect">
            <a:avLst/>
          </a:prstGeom>
          <a:noFill/>
          <a:effectLst/>
        </p:spPr>
        <p:txBody>
          <a:bodyPr wrap="square" lIns="0" rIns="0" tIns="0" bIns="0">
            <a:spAutoFit/>
          </a:bodyPr>
          <a:lstStyle/>
          <a:p>
            <a:pPr algn="ctr">
              <a:lnSpc>
                <a:spcPct val="103000"/>
              </a:lnSpc>
              <a:spcBef>
                <a:spcPts val="0"/>
              </a:spcBef>
              <a:spcAft>
                <a:spcPts val="300"/>
              </a:spcAft>
            </a:pPr>
            <a:r>
              <a:rPr sz="2600" b="0" i="0">
                <a:solidFill>
                  <a:srgbClr val="171717"/>
                </a:solidFill>
                <a:latin typeface="Times New Roman"/>
                <a:ea typeface="Times New Roman"/>
                <a:cs typeface="Times New Roman"/>
              </a:rPr>
              <a:t>Awake → Drowsy gắn với sự tái tổ chức động lực học PPG</a:t>
            </a:r>
          </a:p>
          <a:p>
            <a:pPr algn="ctr">
              <a:lnSpc>
                <a:spcPct val="103000"/>
              </a:lnSpc>
              <a:spcBef>
                <a:spcPts val="0"/>
              </a:spcBef>
              <a:spcAft>
                <a:spcPts val="300"/>
              </a:spcAft>
            </a:pPr>
            <a:r>
              <a:rPr sz="2600" b="0" i="0">
                <a:solidFill>
                  <a:srgbClr val="171717"/>
                </a:solidFill>
                <a:latin typeface="Times New Roman"/>
                <a:ea typeface="Times New Roman"/>
                <a:cs typeface="Times New Roman"/>
              </a:rPr>
              <a:t>qua các thuộc tính bổ sung cho nhau.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Times New Roman"/>
        <a:cs typeface="Times New Roman"/>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Times New Roman"/>
        <a:cs typeface="Times New Roman"/>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Cập nhật kết quả: Robustness và diễn giải động lực học</dc:title>
  <dc:subject>Kết quả thực nghiệm PPG, p-value/BH-FDR và độ nhạy với các lựa chọn phân tích</dc:subject>
  <dc:creator>Vu Trinh Tu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